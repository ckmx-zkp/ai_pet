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26280"/>
            <a:ext cx="12191695" cy="2331720"/>
          </a:xfrm>
          <a:prstGeom prst="rect">
            <a:avLst/>
          </a:prstGeom>
          <a:solidFill>
            <a:srgbClr val="2B77C4"/>
          </a:solidFill>
          <a:ln w="10160">
            <a:solidFill>
              <a:srgbClr val="2B7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 a:ea="Microsoft YaHei">
                <a:solidFill>
                  <a:srgbClr val="FFFFFF"/>
                </a:solidFill>
                <a:latin typeface="Microsoft YaHei"/>
              </a:rPr>
              <a:t>AI Pet ESP32‑S3 硬件原理图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0312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 a:ea="Microsoft YaHei">
                <a:solidFill>
                  <a:srgbClr val="FFFFFF"/>
                </a:solidFill>
                <a:latin typeface="Microsoft YaHei"/>
              </a:rPr>
              <a:t>嵌入式软件工程师审核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4892040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a:ea="Microsoft YaHei">
                <a:solidFill>
                  <a:srgbClr val="FFFFFF"/>
                </a:solidFill>
                <a:latin typeface="Microsoft YaHei"/>
              </a:rPr>
              <a:t>投板就绪度 · 烧录与驱动闭环 · 双 SPI 眼屏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5715000"/>
            <a:ext cx="8046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a:ea="Microsoft YaHei">
                <a:solidFill>
                  <a:srgbClr val="D3E6F4"/>
                </a:solidFill>
                <a:latin typeface="Microsoft YaHei"/>
              </a:rPr>
              <a:t>审核范围：S3 主控、下载、音频、双眼、I2C/I2S、4G 与软件 bring-up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6144768"/>
            <a:ext cx="8046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a:ea="Microsoft YaHei">
                <a:solidFill>
                  <a:srgbClr val="D3E6F4"/>
                </a:solidFill>
                <a:latin typeface="Microsoft YaHei"/>
              </a:rPr>
              <a:t>2026-08-08 原理图版本 · 只读审阅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77C4"/>
          </a:solidFill>
          <a:ln w="10160">
            <a:solidFill>
              <a:srgbClr val="2B7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a:ea="Microsoft YaHei">
                <a:solidFill>
                  <a:srgbClr val="141F2E"/>
                </a:solidFill>
                <a:latin typeface="Microsoft YaHei"/>
              </a:rPr>
              <a:t>结论：可做 EVT，但当前不满足正式投板 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a:ea="Microsoft YaHei">
                <a:solidFill>
                  <a:srgbClr val="495668"/>
                </a:solidFill>
                <a:latin typeface="Microsoft YaHei"/>
              </a:rPr>
              <a:t>S3 选型与双眼拓扑通过；三个 P0 闭环问题必须先修订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473952"/>
            <a:ext cx="9875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a:ea="Microsoft YaHei">
                <a:solidFill>
                  <a:srgbClr val="495668"/>
                </a:solidFill>
                <a:latin typeface="Microsoft YaHei"/>
              </a:rPr>
              <a:t>来源：SCH_Schematic1_2026-08-08.pdf、Netlist_Schematic1_2026-08-08.tel、xiaozhi-esp32 代码（只读审核）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2823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a:ea="Microsoft YaHei">
                <a:solidFill>
                  <a:srgbClr val="495668"/>
                </a:solidFill>
                <a:latin typeface="Microsoft YaHei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417320"/>
            <a:ext cx="3657600" cy="4343400"/>
          </a:xfrm>
          <a:prstGeom prst="rect">
            <a:avLst/>
          </a:prstGeom>
          <a:solidFill>
            <a:srgbClr val="FDF1F0"/>
          </a:solidFill>
          <a:ln w="10160">
            <a:solidFill>
              <a:srgbClr val="C23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19072"/>
            <a:ext cx="3108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a:ea="Microsoft YaHei">
                <a:solidFill>
                  <a:srgbClr val="C23633"/>
                </a:solidFill>
                <a:latin typeface="Microsoft YaHei"/>
              </a:rPr>
              <a:t>NO‑GO（当前）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306324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 a:ea="Microsoft YaHei">
                <a:solidFill>
                  <a:srgbClr val="141F2E"/>
                </a:solidFill>
                <a:latin typeface="Microsoft YaHei"/>
              </a:rPr>
              <a:t>不建议按当前原理图作为正式功能板下单。
S3 核心能力可实现；但下载口、功放供电、4G UART 电平尚未形成稳定的软硬件闭环。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26280" y="1417320"/>
            <a:ext cx="6995160" cy="4343400"/>
          </a:xfrm>
          <a:prstGeom prst="rect">
            <a:avLst/>
          </a:prstGeom>
          <a:solidFill>
            <a:srgbClr val="EFF3F7"/>
          </a:solidFill>
          <a:ln w="10160">
            <a:solidFill>
              <a:srgbClr val="C2C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00600" y="1691640"/>
            <a:ext cx="1463040" cy="292608"/>
          </a:xfrm>
          <a:prstGeom prst="roundRect">
            <a:avLst/>
          </a:prstGeom>
          <a:solidFill>
            <a:srgbClr val="1C875A"/>
          </a:solidFill>
          <a:ln w="10160">
            <a:solidFill>
              <a:srgbClr val="1C8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73752" y="1732788"/>
            <a:ext cx="13167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a:ea="Microsoft YaHei">
                <a:solidFill>
                  <a:srgbClr val="FFFFFF"/>
                </a:solidFill>
                <a:latin typeface="Microsoft YaHei"/>
              </a:rPr>
              <a:t>可保留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2084831"/>
            <a:ext cx="62636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 a:ea="Microsoft YaHei">
                <a:solidFill>
                  <a:srgbClr val="1C875A"/>
                </a:solidFill>
                <a:latin typeface="Microsoft YaHei"/>
              </a:rPr>
              <a:t>• ESP32‑S3 + Wi‑Fi/BT + OTA + 小智语音</a:t>
            </a:r>
          </a:p>
          <a:p>
            <a:pPr>
              <a:spcAft>
                <a:spcPts val="1000"/>
              </a:spcAft>
            </a:pPr>
            <a:r>
              <a:rPr sz="1800" b="1" a:ea="Microsoft YaHei">
                <a:solidFill>
                  <a:srgbClr val="1C875A"/>
                </a:solidFill>
                <a:latin typeface="Microsoft YaHei"/>
              </a:rPr>
              <a:t>• ES7210 / ES8311 音频架构与 I2S 引脚资源</a:t>
            </a:r>
          </a:p>
          <a:p>
            <a:pPr>
              <a:spcAft>
                <a:spcPts val="1000"/>
              </a:spcAft>
            </a:pPr>
            <a:r>
              <a:rPr sz="1800" b="1" a:ea="Microsoft YaHei">
                <a:solidFill>
                  <a:srgbClr val="1C875A"/>
                </a:solidFill>
                <a:latin typeface="Microsoft YaHei"/>
              </a:rPr>
              <a:t>• GC9A01 双屏：共享 SPI、双 CS 的硬件拓扑</a:t>
            </a:r>
          </a:p>
          <a:p>
            <a:pPr>
              <a:spcAft>
                <a:spcPts val="1000"/>
              </a:spcAft>
            </a:pPr>
            <a:r>
              <a:rPr sz="1800" b="1" a:ea="Microsoft YaHei">
                <a:solidFill>
                  <a:srgbClr val="1C875A"/>
                </a:solidFill>
                <a:latin typeface="Microsoft YaHei"/>
              </a:rPr>
              <a:t>• K230 作为 UART 视觉事件源的后续扩展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00600" y="4370832"/>
            <a:ext cx="1463040" cy="292608"/>
          </a:xfrm>
          <a:prstGeom prst="roundRect">
            <a:avLst/>
          </a:prstGeom>
          <a:solidFill>
            <a:srgbClr val="C23633"/>
          </a:solidFill>
          <a:ln w="10160">
            <a:solidFill>
              <a:srgbClr val="C23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73752" y="4411980"/>
            <a:ext cx="13167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a:ea="Microsoft YaHei">
                <a:solidFill>
                  <a:srgbClr val="FFFFFF"/>
                </a:solidFill>
                <a:latin typeface="Microsoft YaHei"/>
              </a:rPr>
              <a:t>投板前修复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4754880"/>
            <a:ext cx="6263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 a:ea="Microsoft YaHei">
                <a:solidFill>
                  <a:srgbClr val="C23633"/>
                </a:solidFill>
                <a:latin typeface="Microsoft YaHei"/>
              </a:rPr>
              <a:t>• Type‑C / CH340 / S3 下载路径必须明确</a:t>
            </a:r>
          </a:p>
          <a:p>
            <a:pPr>
              <a:spcAft>
                <a:spcPts val="1000"/>
              </a:spcAft>
            </a:pPr>
            <a:r>
              <a:rPr sz="1700" b="1" a:ea="Microsoft YaHei">
                <a:solidFill>
                  <a:srgbClr val="C23633"/>
                </a:solidFill>
                <a:latin typeface="Microsoft YaHei"/>
              </a:rPr>
              <a:t>• NS4150B 的 VBUS 与系统 5V 供电关系必须闭环</a:t>
            </a:r>
          </a:p>
          <a:p>
            <a:pPr>
              <a:spcAft>
                <a:spcPts val="1000"/>
              </a:spcAft>
            </a:pPr>
            <a:r>
              <a:rPr sz="1700" b="1" a:ea="Microsoft YaHei">
                <a:solidFill>
                  <a:srgbClr val="C23633"/>
                </a:solidFill>
                <a:latin typeface="Microsoft YaHei"/>
              </a:rPr>
              <a:t>• 若装 4G，必须确认 1.8V UART 并补电平转换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77C4"/>
          </a:solidFill>
          <a:ln w="10160">
            <a:solidFill>
              <a:srgbClr val="2B7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a:ea="Microsoft YaHei">
                <a:solidFill>
                  <a:srgbClr val="141F2E"/>
                </a:solidFill>
                <a:latin typeface="Microsoft YaHei"/>
              </a:rPr>
              <a:t>S3 的产品能力覆盖充分，P4→S3 是预期收敛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a:ea="Microsoft YaHei">
                <a:solidFill>
                  <a:srgbClr val="495668"/>
                </a:solidFill>
                <a:latin typeface="Microsoft YaHei"/>
              </a:rPr>
              <a:t>产品是人格陪伴电子宠；核心是语音、双眼与表达，不是 MIPI 视觉平台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473952"/>
            <a:ext cx="9875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a:ea="Microsoft YaHei">
                <a:solidFill>
                  <a:srgbClr val="495668"/>
                </a:solidFill>
                <a:latin typeface="Microsoft YaHei"/>
              </a:rPr>
              <a:t>来源：SCH_Schematic1_2026-08-08.pdf、Netlist_Schematic1_2026-08-08.tel、xiaozhi-esp32 代码（只读审核）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2823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a:ea="Microsoft YaHei">
                <a:solidFill>
                  <a:srgbClr val="495668"/>
                </a:solidFill>
                <a:latin typeface="Microsoft YaHei"/>
              </a:rPr>
              <a:t>03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417320"/>
          <a:ext cx="1088136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1417320"/>
                <a:gridCol w="7132320"/>
              </a:tblGrid>
              <a:tr h="646611">
                <a:tc>
                  <a:txBody>
                    <a:bodyPr/>
                    <a:lstStyle/>
                    <a:p>
                      <a:r>
                        <a:rPr sz="1400" b="1" a:ea="Microsoft YaHei">
                          <a:solidFill>
                            <a:srgbClr val="FFFFFF"/>
                          </a:solidFill>
                          <a:latin typeface="Microsoft YaHei"/>
                        </a:rPr>
                        <a:t>能力</a:t>
                      </a:r>
                    </a:p>
                  </a:txBody>
                  <a:tcPr marL="91440" marR="91440" marT="54864" marB="54864" anchor="ctr">
                    <a:solidFill>
                      <a:srgbClr val="141F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a:ea="Microsoft YaHei">
                          <a:solidFill>
                            <a:srgbClr val="FFFFFF"/>
                          </a:solidFill>
                          <a:latin typeface="Microsoft YaHei"/>
                        </a:rPr>
                        <a:t>S3 判断</a:t>
                      </a:r>
                    </a:p>
                  </a:txBody>
                  <a:tcPr marL="91440" marR="91440" marT="54864" marB="54864" anchor="ctr">
                    <a:solidFill>
                      <a:srgbClr val="141F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a:ea="Microsoft YaHei">
                          <a:solidFill>
                            <a:srgbClr val="FFFFFF"/>
                          </a:solidFill>
                          <a:latin typeface="Microsoft YaHei"/>
                        </a:rPr>
                        <a:t>审核理由</a:t>
                      </a:r>
                    </a:p>
                  </a:txBody>
                  <a:tcPr marL="91440" marR="91440" marT="54864" marB="54864" anchor="ctr">
                    <a:solidFill>
                      <a:srgbClr val="141F2E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r>
                        <a:rPr sz="1400" b="0" a:ea="Microsoft YaHei">
                          <a:solidFill>
                            <a:srgbClr val="495668"/>
                          </a:solidFill>
                          <a:latin typeface="Microsoft YaHei"/>
                        </a:rPr>
                        <a:t>语音 / OTA / Wi‑Fi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a:ea="Microsoft YaHei">
                          <a:solidFill>
                            <a:srgbClr val="1C875A"/>
                          </a:solidFill>
                          <a:latin typeface="Microsoft YaHei"/>
                        </a:rPr>
                        <a:t>通过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a:ea="Microsoft YaHei">
                          <a:solidFill>
                            <a:srgbClr val="495668"/>
                          </a:solidFill>
                          <a:latin typeface="Microsoft YaHei"/>
                        </a:rPr>
                        <a:t>S3 原生 Wi‑Fi/BT，现有工程已支持 ESP32‑S3 target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r>
                        <a:rPr sz="1400" b="0" a:ea="Microsoft YaHei">
                          <a:solidFill>
                            <a:srgbClr val="495668"/>
                          </a:solidFill>
                          <a:latin typeface="Microsoft YaHei"/>
                        </a:rPr>
                        <a:t>双麦 + 扬声器</a:t>
                      </a:r>
                    </a:p>
                  </a:txBody>
                  <a:tcPr marL="91440" marR="91440" marT="54864" marB="54864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a:ea="Microsoft YaHei">
                          <a:solidFill>
                            <a:srgbClr val="1C875A"/>
                          </a:solidFill>
                          <a:latin typeface="Microsoft YaHei"/>
                        </a:rPr>
                        <a:t>通过</a:t>
                      </a:r>
                    </a:p>
                  </a:txBody>
                  <a:tcPr marL="91440" marR="91440" marT="54864" marB="54864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a:ea="Microsoft YaHei">
                          <a:solidFill>
                            <a:srgbClr val="495668"/>
                          </a:solidFill>
                          <a:latin typeface="Microsoft YaHei"/>
                        </a:rPr>
                        <a:t>I2S + 双 codec 的 IO 分配无直接冲突</a:t>
                      </a:r>
                    </a:p>
                  </a:txBody>
                  <a:tcPr marL="91440" marR="91440" marT="54864" marB="54864" anchor="ctr">
                    <a:solidFill>
                      <a:srgbClr val="EFF3F7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r>
                        <a:rPr sz="1400" b="0" a:ea="Microsoft YaHei">
                          <a:solidFill>
                            <a:srgbClr val="495668"/>
                          </a:solidFill>
                          <a:latin typeface="Microsoft YaHei"/>
                        </a:rPr>
                        <a:t>双眼 / MCP 表情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a:ea="Microsoft YaHei">
                          <a:solidFill>
                            <a:srgbClr val="1C875A"/>
                          </a:solidFill>
                          <a:latin typeface="Microsoft YaHei"/>
                        </a:rPr>
                        <a:t>通过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a:ea="Microsoft YaHei">
                          <a:solidFill>
                            <a:srgbClr val="495668"/>
                          </a:solidFill>
                          <a:latin typeface="Microsoft YaHei"/>
                        </a:rPr>
                        <a:t>GC9A01 的 SPI 多从设备模式适配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r>
                        <a:rPr sz="1400" b="0" a:ea="Microsoft YaHei">
                          <a:solidFill>
                            <a:srgbClr val="495668"/>
                          </a:solidFill>
                          <a:latin typeface="Microsoft YaHei"/>
                        </a:rPr>
                        <a:t>OV2640 单帧拍照</a:t>
                      </a:r>
                    </a:p>
                  </a:txBody>
                  <a:tcPr marL="91440" marR="91440" marT="54864" marB="54864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a:ea="Microsoft YaHei">
                          <a:solidFill>
                            <a:srgbClr val="C37C18"/>
                          </a:solidFill>
                          <a:latin typeface="Microsoft YaHei"/>
                        </a:rPr>
                        <a:t>可行</a:t>
                      </a:r>
                    </a:p>
                  </a:txBody>
                  <a:tcPr marL="91440" marR="91440" marT="54864" marB="54864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a:ea="Microsoft YaHei">
                          <a:solidFill>
                            <a:srgbClr val="495668"/>
                          </a:solidFill>
                          <a:latin typeface="Microsoft YaHei"/>
                        </a:rPr>
                        <a:t>改用 S3 DVP + esp32_camera，不复用 P4 CSI</a:t>
                      </a:r>
                    </a:p>
                  </a:txBody>
                  <a:tcPr marL="91440" marR="91440" marT="54864" marB="54864" anchor="ctr">
                    <a:solidFill>
                      <a:srgbClr val="EFF3F7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r>
                        <a:rPr sz="1400" b="0" a:ea="Microsoft YaHei">
                          <a:solidFill>
                            <a:srgbClr val="495668"/>
                          </a:solidFill>
                          <a:latin typeface="Microsoft YaHei"/>
                        </a:rPr>
                        <a:t>K230 主动视觉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a:ea="Microsoft YaHei">
                          <a:solidFill>
                            <a:srgbClr val="C37C18"/>
                          </a:solidFill>
                          <a:latin typeface="Microsoft YaHei"/>
                        </a:rPr>
                        <a:t>可行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a:ea="Microsoft YaHei">
                          <a:solidFill>
                            <a:srgbClr val="495668"/>
                          </a:solidFill>
                          <a:latin typeface="Microsoft YaHei"/>
                        </a:rPr>
                        <a:t>S3 只收 UART 结构化结果，不承担推理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  <a:tr h="646614">
                <a:tc>
                  <a:txBody>
                    <a:bodyPr/>
                    <a:lstStyle/>
                    <a:p>
                      <a:r>
                        <a:rPr sz="1400" b="0" a:ea="Microsoft YaHei">
                          <a:solidFill>
                            <a:srgbClr val="495668"/>
                          </a:solidFill>
                          <a:latin typeface="Microsoft YaHei"/>
                        </a:rPr>
                        <a:t>MIPI‑CSI / DSI</a:t>
                      </a:r>
                    </a:p>
                  </a:txBody>
                  <a:tcPr marL="91440" marR="91440" marT="54864" marB="54864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a:ea="Microsoft YaHei">
                          <a:solidFill>
                            <a:srgbClr val="495668"/>
                          </a:solidFill>
                          <a:latin typeface="Microsoft YaHei"/>
                        </a:rPr>
                        <a:t>不保留</a:t>
                      </a:r>
                    </a:p>
                  </a:txBody>
                  <a:tcPr marL="91440" marR="91440" marT="54864" marB="54864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a:ea="Microsoft YaHei">
                          <a:solidFill>
                            <a:srgbClr val="495668"/>
                          </a:solidFill>
                          <a:latin typeface="Microsoft YaHei"/>
                        </a:rPr>
                        <a:t>属于 P4 路线，非当前产品核心</a:t>
                      </a:r>
                    </a:p>
                  </a:txBody>
                  <a:tcPr marL="91440" marR="91440" marT="54864" marB="54864" anchor="ctr">
                    <a:solidFill>
                      <a:srgbClr val="EFF3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13232" y="5998464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a:ea="Microsoft YaHei">
                <a:solidFill>
                  <a:srgbClr val="141F2E"/>
                </a:solidFill>
                <a:latin typeface="Microsoft YaHei"/>
              </a:rPr>
              <a:t>软件迁移重点：新建 esp32‑s3‑ai‑pet 板型；迁移眼睛状态机与 MCP；替换 P4 CSI 与单屏输出层。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77C4"/>
          </a:solidFill>
          <a:ln w="10160">
            <a:solidFill>
              <a:srgbClr val="2B7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a:ea="Microsoft YaHei">
                <a:solidFill>
                  <a:srgbClr val="141F2E"/>
                </a:solidFill>
                <a:latin typeface="Microsoft YaHei"/>
              </a:rPr>
              <a:t>S3 引脚分配可驱动全部首版外设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a:ea="Microsoft YaHei">
                <a:solidFill>
                  <a:srgbClr val="495668"/>
                </a:solidFill>
                <a:latin typeface="Microsoft YaHei"/>
              </a:rPr>
              <a:t>关键功能组之间未发现 GPIO 复用冲突；GPIO19/20 的取舍需单独确认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473952"/>
            <a:ext cx="9875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a:ea="Microsoft YaHei">
                <a:solidFill>
                  <a:srgbClr val="495668"/>
                </a:solidFill>
                <a:latin typeface="Microsoft YaHei"/>
              </a:rPr>
              <a:t>来源：SCH_Schematic1_2026-08-08.pdf、Netlist_Schematic1_2026-08-08.tel、xiaozhi-esp32 代码（只读审核）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2823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a:ea="Microsoft YaHei">
                <a:solidFill>
                  <a:srgbClr val="495668"/>
                </a:solidFill>
                <a:latin typeface="Microsoft YaHe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a:ea="Microsoft YaHei">
                <a:solidFill>
                  <a:srgbClr val="141F2E"/>
                </a:solidFill>
                <a:latin typeface="Microsoft YaHei"/>
              </a:rPr>
              <a:t>总线 / IO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783080"/>
            <a:ext cx="3017520" cy="914400"/>
          </a:xfrm>
          <a:prstGeom prst="rect">
            <a:avLst/>
          </a:prstGeom>
          <a:solidFill>
            <a:srgbClr val="EFF3F7"/>
          </a:solidFill>
          <a:ln w="10160">
            <a:solidFill>
              <a:srgbClr val="C2C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956816"/>
            <a:ext cx="2651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a:ea="Microsoft YaHei">
                <a:solidFill>
                  <a:srgbClr val="2B77C4"/>
                </a:solidFill>
                <a:latin typeface="Microsoft YaHei"/>
              </a:rPr>
              <a:t>GPIO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322576"/>
            <a:ext cx="2651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a:ea="Microsoft YaHei">
                <a:solidFill>
                  <a:srgbClr val="495668"/>
                </a:solidFill>
                <a:latin typeface="Microsoft YaHei"/>
              </a:rPr>
              <a:t>设备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3716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a:ea="Microsoft YaHei">
                <a:solidFill>
                  <a:srgbClr val="141F2E"/>
                </a:solidFill>
                <a:latin typeface="Microsoft YaHei"/>
              </a:rPr>
              <a:t>显示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26280" y="1783080"/>
            <a:ext cx="3017520" cy="914400"/>
          </a:xfrm>
          <a:prstGeom prst="rect">
            <a:avLst/>
          </a:prstGeom>
          <a:solidFill>
            <a:srgbClr val="EFF3F7"/>
          </a:solidFill>
          <a:ln w="10160">
            <a:solidFill>
              <a:srgbClr val="C2C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90872" y="1956816"/>
            <a:ext cx="2651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a:ea="Microsoft YaHei">
                <a:solidFill>
                  <a:srgbClr val="2B77C4"/>
                </a:solidFill>
                <a:latin typeface="Microsoft YaHei"/>
              </a:rPr>
              <a:t>39 / 40 / 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2322576"/>
            <a:ext cx="2651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a:ea="Microsoft YaHei">
                <a:solidFill>
                  <a:srgbClr val="495668"/>
                </a:solidFill>
                <a:latin typeface="Microsoft YaHei"/>
              </a:rPr>
              <a:t>DC / MOSI / SCK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3716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a:ea="Microsoft YaHei">
                <a:solidFill>
                  <a:srgbClr val="141F2E"/>
                </a:solidFill>
                <a:latin typeface="Microsoft YaHei"/>
              </a:rPr>
              <a:t>音频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783080"/>
            <a:ext cx="3017520" cy="914400"/>
          </a:xfrm>
          <a:prstGeom prst="rect">
            <a:avLst/>
          </a:prstGeom>
          <a:solidFill>
            <a:srgbClr val="EFF3F7"/>
          </a:solidFill>
          <a:ln w="10160">
            <a:solidFill>
              <a:srgbClr val="C2C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1956816"/>
            <a:ext cx="2651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a:ea="Microsoft YaHei">
                <a:solidFill>
                  <a:srgbClr val="2B77C4"/>
                </a:solidFill>
                <a:latin typeface="Microsoft YaHei"/>
              </a:rPr>
              <a:t>12 / 13 / 14 / 38 / 45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2322576"/>
            <a:ext cx="2651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a:ea="Microsoft YaHei">
                <a:solidFill>
                  <a:srgbClr val="495668"/>
                </a:solidFill>
                <a:latin typeface="Microsoft YaHei"/>
              </a:rPr>
              <a:t>DI / WS / BCK / MCLK / 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a:ea="Microsoft YaHei">
                <a:solidFill>
                  <a:srgbClr val="141F2E"/>
                </a:solidFill>
                <a:latin typeface="Microsoft YaHei"/>
              </a:rPr>
              <a:t>I2C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383280"/>
            <a:ext cx="3017520" cy="914400"/>
          </a:xfrm>
          <a:prstGeom prst="rect">
            <a:avLst/>
          </a:prstGeom>
          <a:solidFill>
            <a:srgbClr val="EFF3F7"/>
          </a:solidFill>
          <a:ln w="10160">
            <a:solidFill>
              <a:srgbClr val="C2C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3557016"/>
            <a:ext cx="2651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a:ea="Microsoft YaHei">
                <a:solidFill>
                  <a:srgbClr val="2B77C4"/>
                </a:solidFill>
                <a:latin typeface="Microsoft YaHei"/>
              </a:rPr>
              <a:t>1 /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3922776"/>
            <a:ext cx="2651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a:ea="Microsoft YaHei">
                <a:solidFill>
                  <a:srgbClr val="495668"/>
                </a:solidFill>
                <a:latin typeface="Microsoft YaHei"/>
              </a:rPr>
              <a:t>ES8311、ES7210、PCA9539、OV2640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a:ea="Microsoft YaHei">
                <a:solidFill>
                  <a:srgbClr val="141F2E"/>
                </a:solidFill>
                <a:latin typeface="Microsoft YaHei"/>
              </a:rPr>
              <a:t>双眼片选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26280" y="3383280"/>
            <a:ext cx="3017520" cy="914400"/>
          </a:xfrm>
          <a:prstGeom prst="rect">
            <a:avLst/>
          </a:prstGeom>
          <a:solidFill>
            <a:srgbClr val="EFF3F7"/>
          </a:solidFill>
          <a:ln w="10160">
            <a:solidFill>
              <a:srgbClr val="C2C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90872" y="3557016"/>
            <a:ext cx="2651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a:ea="Microsoft YaHei">
                <a:solidFill>
                  <a:srgbClr val="2B77C4"/>
                </a:solidFill>
                <a:latin typeface="Microsoft YaHei"/>
              </a:rPr>
              <a:t>19 / 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90872" y="3922776"/>
            <a:ext cx="2651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a:ea="Microsoft YaHei">
                <a:solidFill>
                  <a:srgbClr val="495668"/>
                </a:solidFill>
                <a:latin typeface="Microsoft YaHei"/>
              </a:rPr>
              <a:t>左眼 CS / 右眼 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a:ea="Microsoft YaHei">
                <a:solidFill>
                  <a:srgbClr val="141F2E"/>
                </a:solidFill>
                <a:latin typeface="Microsoft YaHei"/>
              </a:rPr>
              <a:t>摄像头 DVP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3383280"/>
            <a:ext cx="3017520" cy="914400"/>
          </a:xfrm>
          <a:prstGeom prst="rect">
            <a:avLst/>
          </a:prstGeom>
          <a:solidFill>
            <a:srgbClr val="EFF3F7"/>
          </a:solidFill>
          <a:ln w="10160">
            <a:solidFill>
              <a:srgbClr val="C2C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94192" y="3557016"/>
            <a:ext cx="2651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a:ea="Microsoft YaHei">
                <a:solidFill>
                  <a:srgbClr val="2B77C4"/>
                </a:solidFill>
                <a:latin typeface="Microsoft YaHei"/>
              </a:rPr>
              <a:t>3–9、15–18、46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3922776"/>
            <a:ext cx="2651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a:ea="Microsoft YaHei">
                <a:solidFill>
                  <a:srgbClr val="495668"/>
                </a:solidFill>
                <a:latin typeface="Microsoft YaHei"/>
              </a:rPr>
              <a:t>OV2640 数据与同步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5720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a:ea="Microsoft YaHei">
                <a:solidFill>
                  <a:srgbClr val="141F2E"/>
                </a:solidFill>
                <a:latin typeface="Microsoft YaHei"/>
              </a:rPr>
              <a:t>外设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4983480"/>
            <a:ext cx="3017520" cy="685800"/>
          </a:xfrm>
          <a:prstGeom prst="rect">
            <a:avLst/>
          </a:prstGeom>
          <a:solidFill>
            <a:srgbClr val="EFF3F7"/>
          </a:solidFill>
          <a:ln w="10160">
            <a:solidFill>
              <a:srgbClr val="C2C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" y="5120640"/>
            <a:ext cx="2651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a:ea="Microsoft YaHei">
                <a:solidFill>
                  <a:srgbClr val="2B77C4"/>
                </a:solidFill>
                <a:latin typeface="Microsoft YaHei"/>
              </a:rPr>
              <a:t>23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" y="5431536"/>
            <a:ext cx="2651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a:ea="Microsoft YaHei">
                <a:solidFill>
                  <a:srgbClr val="495668"/>
                </a:solidFill>
                <a:latin typeface="Microsoft YaHei"/>
              </a:rPr>
              <a:t>舵机 PWM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280" y="45720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a:ea="Microsoft YaHei">
                <a:solidFill>
                  <a:srgbClr val="141F2E"/>
                </a:solidFill>
                <a:latin typeface="Microsoft YaHei"/>
              </a:rPr>
              <a:t>4G UART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26280" y="4983480"/>
            <a:ext cx="3017520" cy="685800"/>
          </a:xfrm>
          <a:prstGeom prst="rect">
            <a:avLst/>
          </a:prstGeom>
          <a:solidFill>
            <a:srgbClr val="EFF3F7"/>
          </a:solidFill>
          <a:ln w="10160">
            <a:solidFill>
              <a:srgbClr val="C2C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90872" y="5120640"/>
            <a:ext cx="2651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a:ea="Microsoft YaHei">
                <a:solidFill>
                  <a:srgbClr val="2B77C4"/>
                </a:solidFill>
                <a:latin typeface="Microsoft YaHei"/>
              </a:rPr>
              <a:t>47 / 48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90872" y="5431536"/>
            <a:ext cx="2651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a:ea="Microsoft YaHei">
                <a:solidFill>
                  <a:srgbClr val="495668"/>
                </a:solidFill>
                <a:latin typeface="Microsoft YaHei"/>
              </a:rPr>
              <a:t>ML307A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45720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a:ea="Microsoft YaHei">
                <a:solidFill>
                  <a:srgbClr val="141F2E"/>
                </a:solidFill>
                <a:latin typeface="Microsoft YaHei"/>
              </a:rPr>
              <a:t>下载 UART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0" y="4983480"/>
            <a:ext cx="3017520" cy="685800"/>
          </a:xfrm>
          <a:prstGeom prst="rect">
            <a:avLst/>
          </a:prstGeom>
          <a:solidFill>
            <a:srgbClr val="EFF3F7"/>
          </a:solidFill>
          <a:ln w="10160">
            <a:solidFill>
              <a:srgbClr val="C2C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94192" y="5120640"/>
            <a:ext cx="2651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a:ea="Microsoft YaHei">
                <a:solidFill>
                  <a:srgbClr val="2B77C4"/>
                </a:solidFill>
                <a:latin typeface="Microsoft YaHei"/>
              </a:rPr>
              <a:t>U0TXD / U0RXD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94192" y="5431536"/>
            <a:ext cx="2651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a:ea="Microsoft YaHei">
                <a:solidFill>
                  <a:srgbClr val="495668"/>
                </a:solidFill>
                <a:latin typeface="Microsoft YaHei"/>
              </a:rPr>
              <a:t>CH340 自动下载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" y="5989320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a:ea="Microsoft YaHei">
                <a:solidFill>
                  <a:srgbClr val="C37C18"/>
                </a:solidFill>
                <a:latin typeface="Microsoft YaHei"/>
              </a:rPr>
              <a:t>注意：GPIO19/20 同时是 S3 原生 USB D−/D+。眼屏占用它们本身可行，但下载必须稳定走 CH340，不能再依赖 S3 原生 USB。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77C4"/>
          </a:solidFill>
          <a:ln w="10160">
            <a:solidFill>
              <a:srgbClr val="2B7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a:ea="Microsoft YaHei">
                <a:solidFill>
                  <a:srgbClr val="141F2E"/>
                </a:solidFill>
                <a:latin typeface="Microsoft YaHei"/>
              </a:rPr>
              <a:t>新双 SPI 眼屏：硬件拓扑正确，软件输出层需重写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a:ea="Microsoft YaHei">
                <a:solidFill>
                  <a:srgbClr val="495668"/>
                </a:solidFill>
                <a:latin typeface="Microsoft YaHei"/>
              </a:rPr>
              <a:t>两块 GC9A01 是 SPI 多从机；一条总线、两个 panel、单一动画状态机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473952"/>
            <a:ext cx="9875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a:ea="Microsoft YaHei">
                <a:solidFill>
                  <a:srgbClr val="495668"/>
                </a:solidFill>
                <a:latin typeface="Microsoft YaHei"/>
              </a:rPr>
              <a:t>来源：SCH_Schematic1_2026-08-08.pdf、Netlist_Schematic1_2026-08-08.tel、xiaozhi-esp32 代码（只读审核）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2823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a:ea="Microsoft YaHei">
                <a:solidFill>
                  <a:srgbClr val="495668"/>
                </a:solidFill>
                <a:latin typeface="Microsoft YaHei"/>
              </a:rPr>
              <a:t>05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17520" y="2029968"/>
            <a:ext cx="6035040" cy="0"/>
          </a:xfrm>
          <a:prstGeom prst="line">
            <a:avLst/>
          </a:prstGeom>
          <a:ln w="17780">
            <a:solidFill>
              <a:srgbClr val="C2C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017520" y="2606040"/>
            <a:ext cx="6035040" cy="0"/>
          </a:xfrm>
          <a:prstGeom prst="line">
            <a:avLst/>
          </a:prstGeom>
          <a:ln w="17780">
            <a:solidFill>
              <a:srgbClr val="C2C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017520" y="3182112"/>
            <a:ext cx="6035040" cy="0"/>
          </a:xfrm>
          <a:prstGeom prst="line">
            <a:avLst/>
          </a:prstGeom>
          <a:ln w="17780">
            <a:solidFill>
              <a:srgbClr val="C2C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017520" y="3758184"/>
            <a:ext cx="6035040" cy="0"/>
          </a:xfrm>
          <a:prstGeom prst="line">
            <a:avLst/>
          </a:prstGeom>
          <a:ln w="17780">
            <a:solidFill>
              <a:srgbClr val="C2C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85800" y="1572768"/>
            <a:ext cx="2331720" cy="2743200"/>
          </a:xfrm>
          <a:prstGeom prst="rect">
            <a:avLst/>
          </a:prstGeom>
          <a:solidFill>
            <a:srgbClr val="141F2E"/>
          </a:solidFill>
          <a:ln w="10160">
            <a:solidFill>
              <a:srgbClr val="141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920240"/>
            <a:ext cx="1874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 a:ea="Microsoft YaHei">
                <a:solidFill>
                  <a:srgbClr val="FFFFFF"/>
                </a:solidFill>
                <a:latin typeface="Microsoft YaHei"/>
              </a:rPr>
              <a:t>ESP32‑S3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514600"/>
            <a:ext cx="187451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a:ea="Microsoft YaHei">
                <a:solidFill>
                  <a:srgbClr val="FFFFFF"/>
                </a:solidFill>
                <a:latin typeface="Microsoft YaHei"/>
              </a:rPr>
              <a:t>GPIO41 SCK
GPIO40 MOSI
GPIO39 DC
RESET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52560" y="1490472"/>
            <a:ext cx="2148840" cy="1298448"/>
          </a:xfrm>
          <a:prstGeom prst="rect">
            <a:avLst/>
          </a:prstGeom>
          <a:solidFill>
            <a:srgbClr val="EFF3F7"/>
          </a:solidFill>
          <a:ln w="10160">
            <a:solidFill>
              <a:srgbClr val="2B7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1160" y="1755648"/>
            <a:ext cx="1691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a:ea="Microsoft YaHei">
                <a:solidFill>
                  <a:srgbClr val="141F2E"/>
                </a:solidFill>
                <a:latin typeface="Microsoft YaHei"/>
              </a:rPr>
              <a:t>左眼 GC9A01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2121408"/>
            <a:ext cx="1691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a:ea="Microsoft YaHei">
                <a:solidFill>
                  <a:srgbClr val="2B77C4"/>
                </a:solidFill>
                <a:latin typeface="Microsoft YaHei"/>
              </a:rPr>
              <a:t>CS = GPIO19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3474720"/>
            <a:ext cx="2148840" cy="1298448"/>
          </a:xfrm>
          <a:prstGeom prst="rect">
            <a:avLst/>
          </a:prstGeom>
          <a:solidFill>
            <a:srgbClr val="EFF3F7"/>
          </a:solidFill>
          <a:ln w="10160">
            <a:solidFill>
              <a:srgbClr val="2B7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3739896"/>
            <a:ext cx="1691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a:ea="Microsoft YaHei">
                <a:solidFill>
                  <a:srgbClr val="141F2E"/>
                </a:solidFill>
                <a:latin typeface="Microsoft YaHei"/>
              </a:rPr>
              <a:t>右眼 GC9A01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4105656"/>
            <a:ext cx="1691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a:ea="Microsoft YaHei">
                <a:solidFill>
                  <a:srgbClr val="2B77C4"/>
                </a:solidFill>
                <a:latin typeface="Microsoft YaHei"/>
              </a:rPr>
              <a:t>CS = GPIO20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0128" y="17830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a:ea="Microsoft YaHei">
                <a:solidFill>
                  <a:srgbClr val="141F2E"/>
                </a:solidFill>
                <a:latin typeface="Microsoft YaHei"/>
              </a:rPr>
              <a:t>SCK / MOSI / DC / RESET 共用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4800600"/>
            <a:ext cx="5120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a:ea="Microsoft YaHei">
                <a:solidFill>
                  <a:srgbClr val="2B77C4"/>
                </a:solidFill>
                <a:latin typeface="Microsoft YaHei"/>
              </a:rPr>
              <a:t>每帧：渲染 → RGB565 字节交换一次 → 左 panel → 右 panel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605272"/>
            <a:ext cx="10607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a:ea="Microsoft YaHei">
                <a:solidFill>
                  <a:srgbClr val="C23633"/>
                </a:solidFill>
                <a:latin typeface="Microsoft YaHei"/>
              </a:rPr>
              <a:t>禁止将现有 FlushFrame() 对左右屏各执行一次：它会原地交换 framebuffer，第二屏颜色会被换回。应仅有一个动画任务与一份同步状态。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77C4"/>
          </a:solidFill>
          <a:ln w="10160">
            <a:solidFill>
              <a:srgbClr val="2B7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a:ea="Microsoft YaHei">
                <a:solidFill>
                  <a:srgbClr val="141F2E"/>
                </a:solidFill>
                <a:latin typeface="Microsoft YaHei"/>
              </a:rPr>
              <a:t>P0：三个问题会直接造成烧录或功能失效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a:ea="Microsoft YaHei">
                <a:solidFill>
                  <a:srgbClr val="495668"/>
                </a:solidFill>
                <a:latin typeface="Microsoft YaHei"/>
              </a:rPr>
              <a:t>这些问题不能用软件重试规避，需在投板前由硬件闭环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473952"/>
            <a:ext cx="9875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a:ea="Microsoft YaHei">
                <a:solidFill>
                  <a:srgbClr val="495668"/>
                </a:solidFill>
                <a:latin typeface="Microsoft YaHei"/>
              </a:rPr>
              <a:t>来源：SCH_Schematic1_2026-08-08.pdf、Netlist_Schematic1_2026-08-08.tel、xiaozhi-esp32 代码（只读审核）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2823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a:ea="Microsoft YaHei">
                <a:solidFill>
                  <a:srgbClr val="495668"/>
                </a:solidFill>
                <a:latin typeface="Microsoft YaHei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481328"/>
            <a:ext cx="3429000" cy="4315968"/>
          </a:xfrm>
          <a:prstGeom prst="rect">
            <a:avLst/>
          </a:prstGeom>
          <a:solidFill>
            <a:srgbClr val="FDF1F0"/>
          </a:solidFill>
          <a:ln w="10160">
            <a:solidFill>
              <a:srgbClr val="C23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05256" y="1755648"/>
            <a:ext cx="512064" cy="292608"/>
          </a:xfrm>
          <a:prstGeom prst="roundRect">
            <a:avLst/>
          </a:prstGeom>
          <a:solidFill>
            <a:srgbClr val="C23633"/>
          </a:solidFill>
          <a:ln w="10160">
            <a:solidFill>
              <a:srgbClr val="C23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796795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a:ea="Microsoft YaHei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2313432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a:ea="Microsoft YaHei">
                <a:solidFill>
                  <a:srgbClr val="141F2E"/>
                </a:solidFill>
                <a:latin typeface="Microsoft YaHei"/>
              </a:rPr>
              <a:t>Type‑C 下载路径不闭环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2999232"/>
            <a:ext cx="2852928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a:ea="Microsoft YaHei">
                <a:solidFill>
                  <a:srgbClr val="495668"/>
                </a:solidFill>
                <a:latin typeface="Microsoft YaHei"/>
              </a:rPr>
              <a:t>Type‑C D+/D−仍在 P4 残留 USB 网络；CH340 走 H1。
需定义唯一的“Type‑C → CH340 → S3 UART0”路径。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5212080"/>
            <a:ext cx="2743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a:ea="Microsoft YaHei">
                <a:solidFill>
                  <a:srgbClr val="C23633"/>
                </a:solidFill>
                <a:latin typeface="Microsoft YaHei"/>
              </a:rPr>
              <a:t>投板前必须关闭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53128" y="1481328"/>
            <a:ext cx="3429000" cy="4315968"/>
          </a:xfrm>
          <a:prstGeom prst="rect">
            <a:avLst/>
          </a:prstGeom>
          <a:solidFill>
            <a:srgbClr val="FDF1F0"/>
          </a:solidFill>
          <a:ln w="10160">
            <a:solidFill>
              <a:srgbClr val="C23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72584" y="1755648"/>
            <a:ext cx="512064" cy="292608"/>
          </a:xfrm>
          <a:prstGeom prst="roundRect">
            <a:avLst/>
          </a:prstGeom>
          <a:solidFill>
            <a:srgbClr val="C23633"/>
          </a:solidFill>
          <a:ln w="10160">
            <a:solidFill>
              <a:srgbClr val="C23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45736" y="1796795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a:ea="Microsoft YaHei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2584" y="2313432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a:ea="Microsoft YaHei">
                <a:solidFill>
                  <a:srgbClr val="141F2E"/>
                </a:solidFill>
                <a:latin typeface="Microsoft YaHei"/>
              </a:rPr>
              <a:t>功放供电网需确认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2584" y="2999232"/>
            <a:ext cx="2852928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a:ea="Microsoft YaHei">
                <a:solidFill>
                  <a:srgbClr val="495668"/>
                </a:solidFill>
                <a:latin typeface="Microsoft YaHei"/>
              </a:rPr>
              <a:t>NS4150B VCC 接 VBUS；系统主电源另名 5V。
若两网不相连，电池/DC 供电时 TTS 将无声。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2584" y="5212080"/>
            <a:ext cx="2743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a:ea="Microsoft YaHei">
                <a:solidFill>
                  <a:srgbClr val="C23633"/>
                </a:solidFill>
                <a:latin typeface="Microsoft YaHei"/>
              </a:rPr>
              <a:t>投板前必须关闭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0456" y="1481328"/>
            <a:ext cx="3429000" cy="4315968"/>
          </a:xfrm>
          <a:prstGeom prst="rect">
            <a:avLst/>
          </a:prstGeom>
          <a:solidFill>
            <a:srgbClr val="FDF1F0"/>
          </a:solidFill>
          <a:ln w="10160">
            <a:solidFill>
              <a:srgbClr val="C23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1755648"/>
            <a:ext cx="512064" cy="292608"/>
          </a:xfrm>
          <a:prstGeom prst="roundRect">
            <a:avLst/>
          </a:prstGeom>
          <a:solidFill>
            <a:srgbClr val="C23633"/>
          </a:solidFill>
          <a:ln w="10160">
            <a:solidFill>
              <a:srgbClr val="C23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13064" y="1796795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a:ea="Microsoft YaHei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9912" y="2313432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a:ea="Microsoft YaHei">
                <a:solidFill>
                  <a:srgbClr val="141F2E"/>
                </a:solidFill>
                <a:latin typeface="Microsoft YaHei"/>
              </a:rPr>
              <a:t>4G UART 电平未关闭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9912" y="2999232"/>
            <a:ext cx="2852928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a:ea="Microsoft YaHei">
                <a:solidFill>
                  <a:srgbClr val="495668"/>
                </a:solidFill>
                <a:latin typeface="Microsoft YaHei"/>
              </a:rPr>
              <a:t>图中已有“确认都是 1.8V电平？”注记。
装配 ML307A 前必须确认并加双向电平转换。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9912" y="5212080"/>
            <a:ext cx="2743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a:ea="Microsoft YaHei">
                <a:solidFill>
                  <a:srgbClr val="C23633"/>
                </a:solidFill>
                <a:latin typeface="Microsoft YaHei"/>
              </a:rPr>
              <a:t>投板前必须关闭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77C4"/>
          </a:solidFill>
          <a:ln w="10160">
            <a:solidFill>
              <a:srgbClr val="2B7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a:ea="Microsoft YaHei">
                <a:solidFill>
                  <a:srgbClr val="141F2E"/>
                </a:solidFill>
                <a:latin typeface="Microsoft YaHei"/>
              </a:rPr>
              <a:t>P1：这些风险会导致“能启动但不稳定”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a:ea="Microsoft YaHei">
                <a:solidFill>
                  <a:srgbClr val="495668"/>
                </a:solidFill>
                <a:latin typeface="Microsoft YaHei"/>
              </a:rPr>
              <a:t>建议与 P0 同版修订，避免把硬件不确定性带入固件调试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473952"/>
            <a:ext cx="9875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a:ea="Microsoft YaHei">
                <a:solidFill>
                  <a:srgbClr val="495668"/>
                </a:solidFill>
                <a:latin typeface="Microsoft YaHei"/>
              </a:rPr>
              <a:t>来源：SCH_Schematic1_2026-08-08.pdf、Netlist_Schematic1_2026-08-08.tel、xiaozhi-esp32 代码（只读审核）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2823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a:ea="Microsoft YaHei">
                <a:solidFill>
                  <a:srgbClr val="495668"/>
                </a:solidFill>
                <a:latin typeface="Microsoft YaHei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481328"/>
            <a:ext cx="5212080" cy="1627632"/>
          </a:xfrm>
          <a:prstGeom prst="rect">
            <a:avLst/>
          </a:prstGeom>
          <a:solidFill>
            <a:srgbClr val="EFF3F7"/>
          </a:solidFill>
          <a:ln w="10160">
            <a:solidFill>
              <a:srgbClr val="C2C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05256" y="1664208"/>
            <a:ext cx="1005840" cy="292608"/>
          </a:xfrm>
          <a:prstGeom prst="roundRect">
            <a:avLst/>
          </a:prstGeom>
          <a:solidFill>
            <a:srgbClr val="C37C18"/>
          </a:solidFill>
          <a:ln w="10160">
            <a:solidFill>
              <a:srgbClr val="C37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705356"/>
            <a:ext cx="8595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a:ea="Microsoft YaHei">
                <a:solidFill>
                  <a:srgbClr val="FFFFFF"/>
                </a:solidFill>
                <a:latin typeface="Microsoft YaHei"/>
              </a:rPr>
              <a:t>P1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682496"/>
            <a:ext cx="3520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a:ea="Microsoft YaHei">
                <a:solidFill>
                  <a:srgbClr val="141F2E"/>
                </a:solidFill>
                <a:latin typeface="Microsoft YaHei"/>
              </a:rPr>
              <a:t>I2C 上拉与地址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39696"/>
            <a:ext cx="4617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a:ea="Microsoft YaHei">
                <a:solidFill>
                  <a:srgbClr val="495668"/>
                </a:solidFill>
                <a:latin typeface="Microsoft YaHei"/>
              </a:rPr>
              <a:t>1k 与 4.7k 疑似并联；建议统一 2.2k–4.7k。
地址统一标成 7-bit，避免驱动扫描失败。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481328"/>
            <a:ext cx="5212080" cy="1627632"/>
          </a:xfrm>
          <a:prstGeom prst="rect">
            <a:avLst/>
          </a:prstGeom>
          <a:solidFill>
            <a:srgbClr val="EFF3F7"/>
          </a:solidFill>
          <a:ln w="10160">
            <a:solidFill>
              <a:srgbClr val="C2C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83096" y="1664208"/>
            <a:ext cx="1005840" cy="292608"/>
          </a:xfrm>
          <a:prstGeom prst="roundRect">
            <a:avLst/>
          </a:prstGeom>
          <a:solidFill>
            <a:srgbClr val="C37C18"/>
          </a:solidFill>
          <a:ln w="10160">
            <a:solidFill>
              <a:srgbClr val="C37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1705356"/>
            <a:ext cx="8595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a:ea="Microsoft YaHei">
                <a:solidFill>
                  <a:srgbClr val="FFFFFF"/>
                </a:solidFill>
                <a:latin typeface="Microsoft YaHei"/>
              </a:rPr>
              <a:t>P1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1682496"/>
            <a:ext cx="3520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a:ea="Microsoft YaHei">
                <a:solidFill>
                  <a:srgbClr val="141F2E"/>
                </a:solidFill>
                <a:latin typeface="Microsoft YaHei"/>
              </a:rPr>
              <a:t>I2S 负载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139696"/>
            <a:ext cx="4617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a:ea="Microsoft YaHei">
                <a:solidFill>
                  <a:srgbClr val="495668"/>
                </a:solidFill>
                <a:latin typeface="Microsoft YaHei"/>
              </a:rPr>
              <a:t>MCLK / BCLK / WS 各约 44pF 到地。
建议预留 DNP 或降低容值，避免时钟边沿裕量不足。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630168"/>
            <a:ext cx="5212080" cy="1627632"/>
          </a:xfrm>
          <a:prstGeom prst="rect">
            <a:avLst/>
          </a:prstGeom>
          <a:solidFill>
            <a:srgbClr val="EFF3F7"/>
          </a:solidFill>
          <a:ln w="10160">
            <a:solidFill>
              <a:srgbClr val="C2C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5256" y="3813048"/>
            <a:ext cx="1005840" cy="292608"/>
          </a:xfrm>
          <a:prstGeom prst="roundRect">
            <a:avLst/>
          </a:prstGeom>
          <a:solidFill>
            <a:srgbClr val="C37C18"/>
          </a:solidFill>
          <a:ln w="10160">
            <a:solidFill>
              <a:srgbClr val="C37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3854196"/>
            <a:ext cx="8595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a:ea="Microsoft YaHei">
                <a:solidFill>
                  <a:srgbClr val="FFFFFF"/>
                </a:solidFill>
                <a:latin typeface="Microsoft YaHei"/>
              </a:rPr>
              <a:t>P1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3831336"/>
            <a:ext cx="3520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a:ea="Microsoft YaHei">
                <a:solidFill>
                  <a:srgbClr val="141F2E"/>
                </a:solidFill>
                <a:latin typeface="Microsoft YaHei"/>
              </a:rPr>
              <a:t>屏幕复位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288536"/>
            <a:ext cx="4617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a:ea="Microsoft YaHei">
                <a:solidFill>
                  <a:srgbClr val="495668"/>
                </a:solidFill>
                <a:latin typeface="Microsoft YaHei"/>
              </a:rPr>
              <a:t>双眼 RESET 与系统 EN 共用。
首板可接受，但软件无法对单块故障屏做硬复位。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3630168"/>
            <a:ext cx="5212080" cy="1627632"/>
          </a:xfrm>
          <a:prstGeom prst="rect">
            <a:avLst/>
          </a:prstGeom>
          <a:solidFill>
            <a:srgbClr val="EFF3F7"/>
          </a:solidFill>
          <a:ln w="10160">
            <a:solidFill>
              <a:srgbClr val="C2C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83096" y="3813048"/>
            <a:ext cx="1005840" cy="292608"/>
          </a:xfrm>
          <a:prstGeom prst="roundRect">
            <a:avLst/>
          </a:prstGeom>
          <a:solidFill>
            <a:srgbClr val="C37C18"/>
          </a:solidFill>
          <a:ln w="10160">
            <a:solidFill>
              <a:srgbClr val="C37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3854196"/>
            <a:ext cx="8595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a:ea="Microsoft YaHei">
                <a:solidFill>
                  <a:srgbClr val="FFFFFF"/>
                </a:solidFill>
                <a:latin typeface="Microsoft YaHei"/>
              </a:rPr>
              <a:t>P1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3831336"/>
            <a:ext cx="3520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a:ea="Microsoft YaHei">
                <a:solidFill>
                  <a:srgbClr val="141F2E"/>
                </a:solidFill>
                <a:latin typeface="Microsoft YaHei"/>
              </a:rPr>
              <a:t>测试可达性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288536"/>
            <a:ext cx="4617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a:ea="Microsoft YaHei">
                <a:solidFill>
                  <a:srgbClr val="495668"/>
                </a:solidFill>
                <a:latin typeface="Microsoft YaHei"/>
              </a:rPr>
              <a:t>现有测试点集中在 4G USB。
补 5V、3V3、4V、EN、IO0、UART、I2C、SPI 测试点。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77C4"/>
          </a:solidFill>
          <a:ln w="10160">
            <a:solidFill>
              <a:srgbClr val="2B7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a:ea="Microsoft YaHei">
                <a:solidFill>
                  <a:srgbClr val="141F2E"/>
                </a:solidFill>
                <a:latin typeface="Microsoft YaHei"/>
              </a:rPr>
              <a:t>建议的投板门槛与软件 Bring‑up 验收顺序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a:ea="Microsoft YaHei">
                <a:solidFill>
                  <a:srgbClr val="495668"/>
                </a:solidFill>
                <a:latin typeface="Microsoft YaHei"/>
              </a:rPr>
              <a:t>达成前 4 项才进入眼屏与语音应用调试；4G/K230 不应阻塞 EVT 核心功能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473952"/>
            <a:ext cx="9875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a:ea="Microsoft YaHei">
                <a:solidFill>
                  <a:srgbClr val="495668"/>
                </a:solidFill>
                <a:latin typeface="Microsoft YaHei"/>
              </a:rPr>
              <a:t>来源：SCH_Schematic1_2026-08-08.pdf、Netlist_Schematic1_2026-08-08.tel、xiaozhi-esp32 代码（只读审核）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2823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a:ea="Microsoft YaHei">
                <a:solidFill>
                  <a:srgbClr val="495668"/>
                </a:solidFill>
                <a:latin typeface="Microsoft YaHei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335024"/>
            <a:ext cx="475488" cy="438912"/>
          </a:xfrm>
          <a:prstGeom prst="roundRect">
            <a:avLst/>
          </a:prstGeom>
          <a:solidFill>
            <a:srgbClr val="2B77C4"/>
          </a:solidFill>
          <a:ln w="10160">
            <a:solidFill>
              <a:srgbClr val="2B7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475488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a:ea="Microsoft YaHei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1353312"/>
            <a:ext cx="10058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a:ea="Microsoft YaHei">
                <a:solidFill>
                  <a:srgbClr val="141F2E"/>
                </a:solidFill>
                <a:latin typeface="Microsoft YaHei"/>
              </a:rPr>
              <a:t>下载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2032" y="1371600"/>
            <a:ext cx="87325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a:ea="Microsoft YaHei">
                <a:solidFill>
                  <a:srgbClr val="495668"/>
                </a:solidFill>
                <a:latin typeface="Microsoft YaHei"/>
              </a:rPr>
              <a:t>Type‑C/CH340、EN、IO0：稳定擦写、串口日志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002536"/>
            <a:ext cx="475488" cy="438912"/>
          </a:xfrm>
          <a:prstGeom prst="roundRect">
            <a:avLst/>
          </a:prstGeom>
          <a:solidFill>
            <a:srgbClr val="2B77C4"/>
          </a:solidFill>
          <a:ln w="10160">
            <a:solidFill>
              <a:srgbClr val="2B7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084831"/>
            <a:ext cx="475488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a:ea="Microsoft YaHei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2020824"/>
            <a:ext cx="10058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a:ea="Microsoft YaHei">
                <a:solidFill>
                  <a:srgbClr val="141F2E"/>
                </a:solidFill>
                <a:latin typeface="Microsoft YaHei"/>
              </a:rPr>
              <a:t>电源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42032" y="2039112"/>
            <a:ext cx="87325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a:ea="Microsoft YaHei">
                <a:solidFill>
                  <a:srgbClr val="495668"/>
                </a:solidFill>
                <a:latin typeface="Microsoft YaHei"/>
              </a:rPr>
              <a:t>5V / 3V3 / 4V 上电、负载、复位时序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670048"/>
            <a:ext cx="475488" cy="438912"/>
          </a:xfrm>
          <a:prstGeom prst="roundRect">
            <a:avLst/>
          </a:prstGeom>
          <a:solidFill>
            <a:srgbClr val="2B77C4"/>
          </a:solidFill>
          <a:ln w="10160">
            <a:solidFill>
              <a:srgbClr val="2B7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752344"/>
            <a:ext cx="475488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a:ea="Microsoft YaHei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2688336"/>
            <a:ext cx="10058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a:ea="Microsoft YaHei">
                <a:solidFill>
                  <a:srgbClr val="141F2E"/>
                </a:solidFill>
                <a:latin typeface="Microsoft YaHei"/>
              </a:rPr>
              <a:t>总线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42032" y="2706624"/>
            <a:ext cx="87325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a:ea="Microsoft YaHei">
                <a:solidFill>
                  <a:srgbClr val="495668"/>
                </a:solidFill>
                <a:latin typeface="Microsoft YaHei"/>
              </a:rPr>
              <a:t>I2C 扫描与 ES8311/ES7210/PCA9539/OV2640 地址核验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337560"/>
            <a:ext cx="475488" cy="438912"/>
          </a:xfrm>
          <a:prstGeom prst="roundRect">
            <a:avLst/>
          </a:prstGeom>
          <a:solidFill>
            <a:srgbClr val="2B77C4"/>
          </a:solidFill>
          <a:ln w="10160">
            <a:solidFill>
              <a:srgbClr val="2B7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419856"/>
            <a:ext cx="475488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a:ea="Microsoft YaHei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3355848"/>
            <a:ext cx="10058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a:ea="Microsoft YaHei">
                <a:solidFill>
                  <a:srgbClr val="141F2E"/>
                </a:solidFill>
                <a:latin typeface="Microsoft YaHei"/>
              </a:rPr>
              <a:t>音频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42032" y="3374136"/>
            <a:ext cx="87325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a:ea="Microsoft YaHei">
                <a:solidFill>
                  <a:srgbClr val="495668"/>
                </a:solidFill>
                <a:latin typeface="Microsoft YaHei"/>
              </a:rPr>
              <a:t>双麦录音、I2S 时钟、播放、AEC 回采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005072"/>
            <a:ext cx="475488" cy="438912"/>
          </a:xfrm>
          <a:prstGeom prst="roundRect">
            <a:avLst/>
          </a:prstGeom>
          <a:solidFill>
            <a:srgbClr val="2B77C4"/>
          </a:solidFill>
          <a:ln w="10160">
            <a:solidFill>
              <a:srgbClr val="2B7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087368"/>
            <a:ext cx="475488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a:ea="Microsoft YaHei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023359"/>
            <a:ext cx="10058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a:ea="Microsoft YaHei">
                <a:solidFill>
                  <a:srgbClr val="141F2E"/>
                </a:solidFill>
                <a:latin typeface="Microsoft YaHei"/>
              </a:rPr>
              <a:t>双眼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42032" y="4041648"/>
            <a:ext cx="87325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a:ea="Microsoft YaHei">
                <a:solidFill>
                  <a:srgbClr val="495668"/>
                </a:solidFill>
                <a:latin typeface="Microsoft YaHei"/>
              </a:rPr>
              <a:t>左/右单测 → 同步表情、眨眼、睡眠、背光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672583"/>
            <a:ext cx="475488" cy="438912"/>
          </a:xfrm>
          <a:prstGeom prst="roundRect">
            <a:avLst/>
          </a:prstGeom>
          <a:solidFill>
            <a:srgbClr val="2B77C4"/>
          </a:solidFill>
          <a:ln w="10160">
            <a:solidFill>
              <a:srgbClr val="2B7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754879"/>
            <a:ext cx="475488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a:ea="Microsoft YaHei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81328" y="4690871"/>
            <a:ext cx="10058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a:ea="Microsoft YaHei">
                <a:solidFill>
                  <a:srgbClr val="141F2E"/>
                </a:solidFill>
                <a:latin typeface="Microsoft YaHei"/>
              </a:rPr>
              <a:t>外设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42032" y="4709159"/>
            <a:ext cx="87325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a:ea="Microsoft YaHei">
                <a:solidFill>
                  <a:srgbClr val="495668"/>
                </a:solidFill>
                <a:latin typeface="Microsoft YaHei"/>
              </a:rPr>
              <a:t>舵机 PWM、触摸/霍尔；WS2812 需补电路后纳入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5340096"/>
            <a:ext cx="475488" cy="438912"/>
          </a:xfrm>
          <a:prstGeom prst="roundRect">
            <a:avLst/>
          </a:prstGeom>
          <a:solidFill>
            <a:srgbClr val="2B77C4"/>
          </a:solidFill>
          <a:ln w="10160">
            <a:solidFill>
              <a:srgbClr val="2B7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422392"/>
            <a:ext cx="475488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a:ea="Microsoft YaHei">
                <a:solidFill>
                  <a:srgbClr val="FFFFFF"/>
                </a:solidFill>
                <a:latin typeface="Microsoft YaHei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81328" y="5358383"/>
            <a:ext cx="10058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a:ea="Microsoft YaHei">
                <a:solidFill>
                  <a:srgbClr val="141F2E"/>
                </a:solidFill>
                <a:latin typeface="Microsoft YaHei"/>
              </a:rPr>
              <a:t>后续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42032" y="5376672"/>
            <a:ext cx="87325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a:ea="Microsoft YaHei">
                <a:solidFill>
                  <a:srgbClr val="495668"/>
                </a:solidFill>
                <a:latin typeface="Microsoft YaHei"/>
              </a:rPr>
              <a:t>OV2640、ML307A、K230 UART 分阶段启用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6172200"/>
            <a:ext cx="10469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a:ea="Microsoft YaHei">
                <a:solidFill>
                  <a:srgbClr val="1C875A"/>
                </a:solidFill>
                <a:latin typeface="Microsoft YaHei"/>
              </a:rPr>
              <a:t>Go 判据：下载稳定 + 音频双向稳定 + 两屏同步刷新 + 静态功耗与异常复位可复现；然后才装配 4G 与 K230。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143000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a:ea="Microsoft YaHei">
                <a:solidFill>
                  <a:srgbClr val="FFFFFF"/>
                </a:solidFill>
                <a:latin typeface="Microsoft YaHei"/>
              </a:rPr>
              <a:t>建议：先修三项 P0，再投 S3 双眼 EVT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2057400"/>
            <a:ext cx="9875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a:ea="Microsoft YaHei">
                <a:solidFill>
                  <a:srgbClr val="D2E5F4"/>
                </a:solidFill>
                <a:latin typeface="Microsoft YaHei"/>
              </a:rPr>
              <a:t>S3 与新 SPI 屏不是风险来源；它们是当前产品定位最匹配的硬件基础。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804672" y="2971800"/>
            <a:ext cx="10561320" cy="822960"/>
          </a:xfrm>
          <a:prstGeom prst="rect">
            <a:avLst/>
          </a:prstGeom>
          <a:solidFill>
            <a:srgbClr val="2B77C4"/>
          </a:solidFill>
          <a:ln w="10160">
            <a:solidFill>
              <a:srgbClr val="2B7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321868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 a:ea="Microsoft YaHei">
                <a:solidFill>
                  <a:srgbClr val="FFFFFF"/>
                </a:solidFill>
                <a:latin typeface="Microsoft YaHei"/>
              </a:rPr>
              <a:t>投板目标应是：稳定对话 · 双眼有生命感 · 易烧录调试 · 可定位故障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4846320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a:ea="Microsoft YaHei">
                <a:solidFill>
                  <a:srgbClr val="56B8DC"/>
                </a:solidFill>
                <a:latin typeface="Microsoft YaHei"/>
              </a:rPr>
              <a:t>正式版 Go 条件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230368"/>
            <a:ext cx="98755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 a:ea="Microsoft YaHei">
                <a:solidFill>
                  <a:srgbClr val="FFFFFF"/>
                </a:solidFill>
                <a:latin typeface="Microsoft YaHei"/>
              </a:rPr>
              <a:t>• 下载口、功放供电、4G 电平三项 P0 关闭</a:t>
            </a:r>
          </a:p>
          <a:p>
            <a:pPr>
              <a:spcAft>
                <a:spcPts val="1000"/>
              </a:spcAft>
            </a:pPr>
            <a:r>
              <a:rPr sz="1700" b="1" a:ea="Microsoft YaHei">
                <a:solidFill>
                  <a:srgbClr val="FFFFFF"/>
                </a:solidFill>
                <a:latin typeface="Microsoft YaHei"/>
              </a:rPr>
              <a:t>• 双屏 S3 板型完成编译，单一动画任务顺序输出两块 panel</a:t>
            </a:r>
          </a:p>
          <a:p>
            <a:pPr>
              <a:spcAft>
                <a:spcPts val="1000"/>
              </a:spcAft>
            </a:pPr>
            <a:r>
              <a:rPr sz="1700" b="1" a:ea="Microsoft YaHei">
                <a:solidFill>
                  <a:srgbClr val="FFFFFF"/>
                </a:solidFill>
                <a:latin typeface="Microsoft YaHei"/>
              </a:rPr>
              <a:t>• PCB / Gerber / BOM / DRC / 测试点审查完成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