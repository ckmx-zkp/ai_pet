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526280"/>
            <a:ext cx="12191695" cy="2331720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371600"/>
            <a:ext cx="10789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a:ea="Microsoft YaHei">
                <a:solidFill>
                  <a:srgbClr val="FFFFFF"/>
                </a:solidFill>
                <a:latin typeface="Microsoft YaHei"/>
              </a:rPr>
              <a:t>AI Pet ESP32‑S3 硬件原理图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03120"/>
            <a:ext cx="107899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a:ea="Microsoft YaHei">
                <a:solidFill>
                  <a:srgbClr val="FFFFFF"/>
                </a:solidFill>
                <a:latin typeface="Microsoft YaHei"/>
              </a:rPr>
              <a:t>嵌入式软件工程师审核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4892040"/>
            <a:ext cx="8046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a:ea="Microsoft YaHei">
                <a:solidFill>
                  <a:srgbClr val="FFFFFF"/>
                </a:solidFill>
                <a:latin typeface="Microsoft YaHei"/>
              </a:rPr>
              <a:t>投板就绪度 · 烧录与驱动闭环 · 双 SPI 眼屏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5715000"/>
            <a:ext cx="80467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a:ea="Microsoft YaHei">
                <a:solidFill>
                  <a:srgbClr val="D3E6F4"/>
                </a:solidFill>
                <a:latin typeface="Microsoft YaHei"/>
              </a:rPr>
              <a:t>审核范围：S3 主控、下载、音频、双眼、OV2640、I2C/I2S、4G 与软件 bring-up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6144768"/>
            <a:ext cx="80467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a:ea="Microsoft YaHei">
                <a:solidFill>
                  <a:srgbClr val="D3E6F4"/>
                </a:solidFill>
                <a:latin typeface="Microsoft YaHei"/>
              </a:rPr>
              <a:t>2026-08-08 原理图版本 · 只读审阅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a:ea="Microsoft YaHei">
                <a:solidFill>
                  <a:srgbClr val="141F2E"/>
                </a:solidFill>
                <a:latin typeface="Microsoft YaHei"/>
              </a:rPr>
              <a:t>结论：可做 EVT，但当前不满足正式投板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S3 选型与双眼拓扑通过；三个 P0 闭环问题必须先修订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a:ea="Microsoft YaHei">
                <a:solidFill>
                  <a:srgbClr val="495668"/>
                </a:solidFill>
                <a:latin typeface="Microsoft YaHei"/>
              </a:rPr>
              <a:t>来源：SCH_Schematic1_2026-08-08.pdf、Netlist_Schematic1_2026-08-08.tel、xiaozhi-esp32 代码（只读审核）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a:ea="Microsoft YaHei">
                <a:solidFill>
                  <a:srgbClr val="495668"/>
                </a:solidFill>
                <a:latin typeface="Microsoft YaHe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417320"/>
            <a:ext cx="3657600" cy="4343400"/>
          </a:xfrm>
          <a:prstGeom prst="rect">
            <a:avLst/>
          </a:prstGeom>
          <a:solidFill>
            <a:srgbClr val="FDF1F0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19072"/>
            <a:ext cx="3108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1" a:ea="Microsoft YaHei">
                <a:solidFill>
                  <a:srgbClr val="C23633"/>
                </a:solidFill>
                <a:latin typeface="Microsoft YaHei"/>
              </a:rPr>
              <a:t>NO‑GO（当前）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423160"/>
            <a:ext cx="306324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 a:ea="Microsoft YaHei">
                <a:solidFill>
                  <a:srgbClr val="141F2E"/>
                </a:solidFill>
                <a:latin typeface="Microsoft YaHei"/>
              </a:rPr>
              <a:t>不建议按当前原理图作为正式功能板下单。
S3 核心能力可实现；但下载口、功放供电、4G UART 电平尚未形成稳定的软硬件闭环。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417320"/>
            <a:ext cx="6995160" cy="43434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800600" y="1691640"/>
            <a:ext cx="1463040" cy="292608"/>
          </a:xfrm>
          <a:prstGeom prst="roundRect">
            <a:avLst/>
          </a:prstGeom>
          <a:solidFill>
            <a:srgbClr val="1C875A"/>
          </a:solidFill>
          <a:ln w="10160">
            <a:solidFill>
              <a:srgbClr val="1C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2" y="1732788"/>
            <a:ext cx="13167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可保留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0" y="2084831"/>
            <a:ext cx="6263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 a:ea="Microsoft YaHei">
                <a:solidFill>
                  <a:srgbClr val="1C875A"/>
                </a:solidFill>
                <a:latin typeface="Microsoft YaHei"/>
              </a:rPr>
              <a:t>• ESP32‑S3 + Wi‑Fi/BT + OTA + 小智语音</a:t>
            </a:r>
          </a:p>
          <a:p>
            <a:pPr>
              <a:spcAft>
                <a:spcPts val="1000"/>
              </a:spcAft>
            </a:pPr>
            <a:r>
              <a:rPr sz="1800" b="1" a:ea="Microsoft YaHei">
                <a:solidFill>
                  <a:srgbClr val="1C875A"/>
                </a:solidFill>
                <a:latin typeface="Microsoft YaHei"/>
              </a:rPr>
              <a:t>• ES7210 / ES8311 音频架构与 I2S 引脚资源</a:t>
            </a:r>
          </a:p>
          <a:p>
            <a:pPr>
              <a:spcAft>
                <a:spcPts val="1000"/>
              </a:spcAft>
            </a:pPr>
            <a:r>
              <a:rPr sz="1800" b="1" a:ea="Microsoft YaHei">
                <a:solidFill>
                  <a:srgbClr val="1C875A"/>
                </a:solidFill>
                <a:latin typeface="Microsoft YaHei"/>
              </a:rPr>
              <a:t>• GC9A01 双屏：共享 SPI、双 CS 的硬件拓扑</a:t>
            </a:r>
          </a:p>
          <a:p>
            <a:pPr>
              <a:spcAft>
                <a:spcPts val="1000"/>
              </a:spcAft>
            </a:pPr>
            <a:r>
              <a:rPr sz="1800" b="1" a:ea="Microsoft YaHei">
                <a:solidFill>
                  <a:srgbClr val="1C875A"/>
                </a:solidFill>
                <a:latin typeface="Microsoft YaHei"/>
              </a:rPr>
              <a:t>• OV2640：首板 P0 功能，采用 S3 DVP 单帧 JPEG</a:t>
            </a:r>
          </a:p>
          <a:p>
            <a:pPr>
              <a:spcAft>
                <a:spcPts val="1000"/>
              </a:spcAft>
            </a:pPr>
            <a:r>
              <a:rPr sz="1800" b="1" a:ea="Microsoft YaHei">
                <a:solidFill>
                  <a:srgbClr val="1C875A"/>
                </a:solidFill>
                <a:latin typeface="Microsoft YaHei"/>
              </a:rPr>
              <a:t>• K230 作为 UART 视觉事件源的后续扩展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00600" y="4370832"/>
            <a:ext cx="1463040" cy="292608"/>
          </a:xfrm>
          <a:prstGeom prst="roundRect">
            <a:avLst/>
          </a:prstGeom>
          <a:solidFill>
            <a:srgbClr val="C23633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73752" y="4411980"/>
            <a:ext cx="13167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投板前修复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754880"/>
            <a:ext cx="6263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a:ea="Microsoft YaHei">
                <a:solidFill>
                  <a:srgbClr val="C23633"/>
                </a:solidFill>
                <a:latin typeface="Microsoft YaHei"/>
              </a:rPr>
              <a:t>• Type‑C / CH340 / S3 下载路径必须明确</a:t>
            </a:r>
          </a:p>
          <a:p>
            <a:pPr>
              <a:spcAft>
                <a:spcPts val="1000"/>
              </a:spcAft>
            </a:pPr>
            <a:r>
              <a:rPr sz="1700" b="1" a:ea="Microsoft YaHei">
                <a:solidFill>
                  <a:srgbClr val="C23633"/>
                </a:solidFill>
                <a:latin typeface="Microsoft YaHei"/>
              </a:rPr>
              <a:t>• NS4150B 的 VBUS 与系统 5V 供电关系必须闭环</a:t>
            </a:r>
          </a:p>
          <a:p>
            <a:pPr>
              <a:spcAft>
                <a:spcPts val="1000"/>
              </a:spcAft>
            </a:pPr>
            <a:r>
              <a:rPr sz="1700" b="1" a:ea="Microsoft YaHei">
                <a:solidFill>
                  <a:srgbClr val="C23633"/>
                </a:solidFill>
                <a:latin typeface="Microsoft YaHei"/>
              </a:rPr>
              <a:t>• 若装 4G，必须确认 1.8V UART 并补电平转换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a:ea="Microsoft YaHei">
                <a:solidFill>
                  <a:srgbClr val="141F2E"/>
                </a:solidFill>
                <a:latin typeface="Microsoft YaHei"/>
              </a:rPr>
              <a:t>S3 的产品能力覆盖充分，P4→S3 是预期收敛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产品是人格陪伴电子宠；核心是语音、双眼与表达，不是 MIPI 视觉平台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a:ea="Microsoft YaHei">
                <a:solidFill>
                  <a:srgbClr val="495668"/>
                </a:solidFill>
                <a:latin typeface="Microsoft YaHei"/>
              </a:rPr>
              <a:t>来源：SCH_Schematic1_2026-08-08.pdf、Netlist_Schematic1_2026-08-08.tel、xiaozhi-esp32 代码（只读审核）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a:ea="Microsoft YaHei">
                <a:solidFill>
                  <a:srgbClr val="495668"/>
                </a:solidFill>
                <a:latin typeface="Microsoft YaHei"/>
              </a:rPr>
              <a:t>03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1417320"/>
          <a:ext cx="1088136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/>
                <a:gridCol w="1417320"/>
                <a:gridCol w="7132320"/>
              </a:tblGrid>
              <a:tr h="646611"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能力</a:t>
                      </a:r>
                    </a:p>
                  </a:txBody>
                  <a:tcPr marL="91440" marR="91440" marT="54864" marB="54864" anchor="ctr">
                    <a:solidFill>
                      <a:srgbClr val="141F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S3 判断</a:t>
                      </a:r>
                    </a:p>
                  </a:txBody>
                  <a:tcPr marL="91440" marR="91440" marT="54864" marB="54864" anchor="ctr">
                    <a:solidFill>
                      <a:srgbClr val="141F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FFFFFF"/>
                          </a:solidFill>
                          <a:latin typeface="Microsoft YaHei"/>
                        </a:rPr>
                        <a:t>审核理由</a:t>
                      </a:r>
                    </a:p>
                  </a:txBody>
                  <a:tcPr marL="91440" marR="91440" marT="54864" marB="54864" anchor="ctr">
                    <a:solidFill>
                      <a:srgbClr val="141F2E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语音 / OTA / Wi‑Fi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1C875A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S3 原生 Wi‑Fi/BT，现有工程已支持 ESP32‑S3 target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双麦 + 扬声器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1C875A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I2S + 双 codec 的 IO 分配无直接冲突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双眼 / MCP 表情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1C875A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GC9A01 的 SPI 多从设备模式适配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OV2640 首板拍照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1C875A"/>
                          </a:solidFill>
                          <a:latin typeface="Microsoft YaHei"/>
                        </a:rPr>
                        <a:t>通过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S3 DVP + esp32_camera；先验收 QVGA JPEG，再上 VGA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K230 主动视觉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C37C18"/>
                          </a:solidFill>
                          <a:latin typeface="Microsoft YaHei"/>
                        </a:rPr>
                        <a:t>可行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S3 只收 UART 结构化结果，不承担推理</a:t>
                      </a:r>
                    </a:p>
                  </a:txBody>
                  <a:tcPr marL="91440" marR="91440" marT="54864" marB="54864" anchor="ctr">
                    <a:solidFill>
                      <a:srgbClr val="FFFFFF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MIPI‑CSI / DSI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不保留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 a:ea="Microsoft YaHei">
                          <a:solidFill>
                            <a:srgbClr val="495668"/>
                          </a:solidFill>
                          <a:latin typeface="Microsoft YaHei"/>
                        </a:rPr>
                        <a:t>属于 P4 路线，非当前产品核心</a:t>
                      </a:r>
                    </a:p>
                  </a:txBody>
                  <a:tcPr marL="91440" marR="91440" marT="54864" marB="54864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13232" y="5998464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a:ea="Microsoft YaHei">
                <a:solidFill>
                  <a:srgbClr val="141F2E"/>
                </a:solidFill>
                <a:latin typeface="Microsoft YaHei"/>
              </a:rPr>
              <a:t>软件迁移重点：新建 esp32‑s3‑ai‑pet 板型；迁移眼睛状态机与 MCP；替换 P4 CSI 与单屏输出层。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a:ea="Microsoft YaHei">
                <a:solidFill>
                  <a:srgbClr val="141F2E"/>
                </a:solidFill>
                <a:latin typeface="Microsoft YaHei"/>
              </a:rPr>
              <a:t>S3 引脚分配可驱动全部首版外设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关键功能组之间未发现 GPIO 复用冲突；GPIO19/20 的取舍需单独确认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a:ea="Microsoft YaHei">
                <a:solidFill>
                  <a:srgbClr val="495668"/>
                </a:solidFill>
                <a:latin typeface="Microsoft YaHei"/>
              </a:rPr>
              <a:t>来源：SCH_Schematic1_2026-08-08.pdf、Netlist_Schematic1_2026-08-08.tel、xiaozhi-esp32 代码（只读审核）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a:ea="Microsoft YaHei">
                <a:solidFill>
                  <a:srgbClr val="495668"/>
                </a:solidFill>
                <a:latin typeface="Microsoft YaHe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总线 / IO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783080"/>
            <a:ext cx="3017520" cy="9144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956816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GPIO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2257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设备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13716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显示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26280" y="1783080"/>
            <a:ext cx="3017520" cy="9144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956816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39 / 40 / 41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32257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DC / MOSI / SCK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3716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音频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1783080"/>
            <a:ext cx="3017520" cy="9144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956816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12 / 13 / 14 / 38 / 45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32257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DI / WS / BCK / MCLK / 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I2C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3383280"/>
            <a:ext cx="3017520" cy="9144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3557016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1 /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392277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ES8311、ES7210、PCA9539、OV2640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双眼片选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3383280"/>
            <a:ext cx="3017520" cy="9144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90872" y="3557016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19 / 20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392277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左眼 CS / 右眼 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2971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摄像头 DVP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3383280"/>
            <a:ext cx="3017520" cy="9144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94192" y="3557016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3–9、15–18、46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4192" y="392277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OV2640 数据与同步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45720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外设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" y="4983480"/>
            <a:ext cx="3017520" cy="6858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" y="5120640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23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" y="543153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舵机 PWM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26280" y="45720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4G UART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26280" y="4983480"/>
            <a:ext cx="3017520" cy="6858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90872" y="5120640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47 / 48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0872" y="543153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ML307A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5720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下载 UART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0" y="4983480"/>
            <a:ext cx="3017520" cy="685800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94192" y="5120640"/>
            <a:ext cx="2651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a:ea="Microsoft YaHei">
                <a:solidFill>
                  <a:srgbClr val="2B77C4"/>
                </a:solidFill>
                <a:latin typeface="Microsoft YaHei"/>
              </a:rPr>
              <a:t>U0TXD / U0RXD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94192" y="5431536"/>
            <a:ext cx="26517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CH340 自动下载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989320"/>
            <a:ext cx="10607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a:ea="Microsoft YaHei">
                <a:solidFill>
                  <a:srgbClr val="C37C18"/>
                </a:solidFill>
                <a:latin typeface="Microsoft YaHei"/>
              </a:rPr>
              <a:t>注意：GPIO19/20 同时是 S3 原生 USB D−/D+。眼屏占用它们本身可行，但下载必须稳定走 CH340，不能再依赖 S3 原生 USB。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a:ea="Microsoft YaHei">
                <a:solidFill>
                  <a:srgbClr val="141F2E"/>
                </a:solidFill>
                <a:latin typeface="Microsoft YaHei"/>
              </a:rPr>
              <a:t>新双 SPI 眼屏：硬件拓扑正确，软件输出层需重写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两块 GC9A01 是 SPI 多从机；一条总线、两个 panel、单一动画状态机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a:ea="Microsoft YaHei">
                <a:solidFill>
                  <a:srgbClr val="495668"/>
                </a:solidFill>
                <a:latin typeface="Microsoft YaHei"/>
              </a:rPr>
              <a:t>来源：SCH_Schematic1_2026-08-08.pdf、Netlist_Schematic1_2026-08-08.tel、xiaozhi-esp32 代码（只读审核）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a:ea="Microsoft YaHei">
                <a:solidFill>
                  <a:srgbClr val="495668"/>
                </a:solidFill>
                <a:latin typeface="Microsoft YaHei"/>
              </a:rPr>
              <a:t>05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029968"/>
            <a:ext cx="6035040" cy="0"/>
          </a:xfrm>
          <a:prstGeom prst="line">
            <a:avLst/>
          </a:prstGeom>
          <a:ln w="17780">
            <a:solidFill>
              <a:srgbClr val="C2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017520" y="2606040"/>
            <a:ext cx="6035040" cy="0"/>
          </a:xfrm>
          <a:prstGeom prst="line">
            <a:avLst/>
          </a:prstGeom>
          <a:ln w="17780">
            <a:solidFill>
              <a:srgbClr val="C2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17520" y="3182112"/>
            <a:ext cx="6035040" cy="0"/>
          </a:xfrm>
          <a:prstGeom prst="line">
            <a:avLst/>
          </a:prstGeom>
          <a:ln w="17780">
            <a:solidFill>
              <a:srgbClr val="C2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017520" y="3758184"/>
            <a:ext cx="6035040" cy="0"/>
          </a:xfrm>
          <a:prstGeom prst="line">
            <a:avLst/>
          </a:prstGeom>
          <a:ln w="17780">
            <a:solidFill>
              <a:srgbClr val="C2CB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85800" y="1572768"/>
            <a:ext cx="2331720" cy="2743200"/>
          </a:xfrm>
          <a:prstGeom prst="rect">
            <a:avLst/>
          </a:prstGeom>
          <a:solidFill>
            <a:srgbClr val="141F2E"/>
          </a:solidFill>
          <a:ln w="10160">
            <a:solidFill>
              <a:srgbClr val="141F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1874519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 a:ea="Microsoft YaHei">
                <a:solidFill>
                  <a:srgbClr val="FFFFFF"/>
                </a:solidFill>
                <a:latin typeface="Microsoft YaHei"/>
              </a:rPr>
              <a:t>ESP32‑S3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514600"/>
            <a:ext cx="1874519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a:ea="Microsoft YaHei">
                <a:solidFill>
                  <a:srgbClr val="FFFFFF"/>
                </a:solidFill>
                <a:latin typeface="Microsoft YaHei"/>
              </a:rPr>
              <a:t>GPIO41 SCK
GPIO40 MOSI
GPIO39 DC
RESET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490472"/>
            <a:ext cx="2148840" cy="1298448"/>
          </a:xfrm>
          <a:prstGeom prst="rect">
            <a:avLst/>
          </a:prstGeom>
          <a:solidFill>
            <a:srgbClr val="EFF3F7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81160" y="1755648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a:ea="Microsoft YaHei">
                <a:solidFill>
                  <a:srgbClr val="141F2E"/>
                </a:solidFill>
                <a:latin typeface="Microsoft YaHei"/>
              </a:rPr>
              <a:t>左眼 GC9A01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2121408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a:ea="Microsoft YaHei">
                <a:solidFill>
                  <a:srgbClr val="2B77C4"/>
                </a:solidFill>
                <a:latin typeface="Microsoft YaHei"/>
              </a:rPr>
              <a:t>CS = GPIO19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3474720"/>
            <a:ext cx="2148840" cy="1298448"/>
          </a:xfrm>
          <a:prstGeom prst="rect">
            <a:avLst/>
          </a:prstGeom>
          <a:solidFill>
            <a:srgbClr val="EFF3F7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3739896"/>
            <a:ext cx="16916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a:ea="Microsoft YaHei">
                <a:solidFill>
                  <a:srgbClr val="141F2E"/>
                </a:solidFill>
                <a:latin typeface="Microsoft YaHei"/>
              </a:rPr>
              <a:t>右眼 GC9A01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4105656"/>
            <a:ext cx="16916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a:ea="Microsoft YaHei">
                <a:solidFill>
                  <a:srgbClr val="2B77C4"/>
                </a:solidFill>
                <a:latin typeface="Microsoft YaHei"/>
              </a:rPr>
              <a:t>CS = GPIO20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10128" y="178308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SCK / MOSI / DC / RESET 共用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4800600"/>
            <a:ext cx="512064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a:ea="Microsoft YaHei">
                <a:solidFill>
                  <a:srgbClr val="2B77C4"/>
                </a:solidFill>
                <a:latin typeface="Microsoft YaHei"/>
              </a:rPr>
              <a:t>每帧：渲染 → RGB565 字节交换一次 → 左 panel → 右 panel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605272"/>
            <a:ext cx="1060704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a:ea="Microsoft YaHei">
                <a:solidFill>
                  <a:srgbClr val="C23633"/>
                </a:solidFill>
                <a:latin typeface="Microsoft YaHei"/>
              </a:rPr>
              <a:t>禁止将现有 FlushFrame() 对左右屏各执行一次：它会原地交换 framebuffer，第二屏颜色会被换回。应仅有一个动画任务与一份同步状态。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a:ea="Microsoft YaHei">
                <a:solidFill>
                  <a:srgbClr val="141F2E"/>
                </a:solidFill>
                <a:latin typeface="Microsoft YaHei"/>
              </a:rPr>
              <a:t>P0：三个问题会直接造成烧录或功能失效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这些问题不能用软件重试规避，需在投板前由硬件闭环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a:ea="Microsoft YaHei">
                <a:solidFill>
                  <a:srgbClr val="495668"/>
                </a:solidFill>
                <a:latin typeface="Microsoft YaHei"/>
              </a:rPr>
              <a:t>来源：SCH_Schematic1_2026-08-08.pdf、Netlist_Schematic1_2026-08-08.tel、xiaozhi-esp32 代码（只读审核）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a:ea="Microsoft YaHei">
                <a:solidFill>
                  <a:srgbClr val="495668"/>
                </a:solidFill>
                <a:latin typeface="Microsoft YaHei"/>
              </a:rPr>
              <a:t>06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81328"/>
            <a:ext cx="3429000" cy="4315968"/>
          </a:xfrm>
          <a:prstGeom prst="rect">
            <a:avLst/>
          </a:prstGeom>
          <a:solidFill>
            <a:srgbClr val="FDF1F0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5256" y="1755648"/>
            <a:ext cx="512064" cy="292608"/>
          </a:xfrm>
          <a:prstGeom prst="roundRect">
            <a:avLst/>
          </a:prstGeom>
          <a:solidFill>
            <a:srgbClr val="C23633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796795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31343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a:ea="Microsoft YaHei">
                <a:solidFill>
                  <a:srgbClr val="141F2E"/>
                </a:solidFill>
                <a:latin typeface="Microsoft YaHei"/>
              </a:rPr>
              <a:t>Type‑C 下载路径不闭环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999232"/>
            <a:ext cx="2852928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Type‑C D+/D−仍在 P4 残留 USB 网络；CH340 走 H1。
需定义唯一的“Type‑C → CH340 → S3 UART0”路径。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52120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a:ea="Microsoft YaHei">
                <a:solidFill>
                  <a:srgbClr val="C23633"/>
                </a:solidFill>
                <a:latin typeface="Microsoft YaHei"/>
              </a:rPr>
              <a:t>投板前必须关闭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53128" y="1481328"/>
            <a:ext cx="3429000" cy="4315968"/>
          </a:xfrm>
          <a:prstGeom prst="rect">
            <a:avLst/>
          </a:prstGeom>
          <a:solidFill>
            <a:srgbClr val="FDF1F0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72584" y="1755648"/>
            <a:ext cx="512064" cy="292608"/>
          </a:xfrm>
          <a:prstGeom prst="roundRect">
            <a:avLst/>
          </a:prstGeom>
          <a:solidFill>
            <a:srgbClr val="C23633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1796795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72584" y="231343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a:ea="Microsoft YaHei">
                <a:solidFill>
                  <a:srgbClr val="141F2E"/>
                </a:solidFill>
                <a:latin typeface="Microsoft YaHei"/>
              </a:rPr>
              <a:t>功放供电网需确认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72584" y="2999232"/>
            <a:ext cx="2852928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NS4150B VCC 接 VBUS；系统主电源另名 5V。
若两网不相连，电池/DC 供电时 TTS 将无声。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2584" y="52120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a:ea="Microsoft YaHei">
                <a:solidFill>
                  <a:srgbClr val="C23633"/>
                </a:solidFill>
                <a:latin typeface="Microsoft YaHei"/>
              </a:rPr>
              <a:t>投板前必须关闭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0456" y="1481328"/>
            <a:ext cx="3429000" cy="4315968"/>
          </a:xfrm>
          <a:prstGeom prst="rect">
            <a:avLst/>
          </a:prstGeom>
          <a:solidFill>
            <a:srgbClr val="FDF1F0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1755648"/>
            <a:ext cx="512064" cy="292608"/>
          </a:xfrm>
          <a:prstGeom prst="roundRect">
            <a:avLst/>
          </a:prstGeom>
          <a:solidFill>
            <a:srgbClr val="C23633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13064" y="1796795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2" y="231343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a:ea="Microsoft YaHei">
                <a:solidFill>
                  <a:srgbClr val="141F2E"/>
                </a:solidFill>
                <a:latin typeface="Microsoft YaHei"/>
              </a:rPr>
              <a:t>4G UART 电平未关闭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9912" y="2999232"/>
            <a:ext cx="2852928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图中已有“确认都是 1.8V电平？”注记。
装配 ML307A 前必须确认并加双向电平转换。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39912" y="5212080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a:ea="Microsoft YaHei">
                <a:solidFill>
                  <a:srgbClr val="C23633"/>
                </a:solidFill>
                <a:latin typeface="Microsoft YaHei"/>
              </a:rPr>
              <a:t>投板前必须关闭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a:ea="Microsoft YaHei">
                <a:solidFill>
                  <a:srgbClr val="141F2E"/>
                </a:solidFill>
                <a:latin typeface="Microsoft YaHei"/>
              </a:rPr>
              <a:t>P1：这些风险会导致“能启动但不稳定”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建议与 P0 同版修订，避免把硬件不确定性带入固件调试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a:ea="Microsoft YaHei">
                <a:solidFill>
                  <a:srgbClr val="495668"/>
                </a:solidFill>
                <a:latin typeface="Microsoft YaHei"/>
              </a:rPr>
              <a:t>来源：SCH_Schematic1_2026-08-08.pdf、Netlist_Schematic1_2026-08-08.tel、xiaozhi-esp32 代码（只读审核）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a:ea="Microsoft YaHei">
                <a:solidFill>
                  <a:srgbClr val="495668"/>
                </a:solidFill>
                <a:latin typeface="Microsoft YaHei"/>
              </a:rPr>
              <a:t>07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81328"/>
            <a:ext cx="5212080" cy="1627632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05256" y="1664208"/>
            <a:ext cx="1005840" cy="292608"/>
          </a:xfrm>
          <a:prstGeom prst="roundRect">
            <a:avLst/>
          </a:prstGeom>
          <a:solidFill>
            <a:srgbClr val="C37C18"/>
          </a:solidFill>
          <a:ln w="10160">
            <a:solidFill>
              <a:srgbClr val="C37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705356"/>
            <a:ext cx="8595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682496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I2C 上拉与地址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39696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1k 与 4.7k 疑似并联；建议统一 2.2k–4.7k。
地址统一标成 7-bit，避免驱动扫描失败。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81328"/>
            <a:ext cx="5212080" cy="1627632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83096" y="1664208"/>
            <a:ext cx="1005840" cy="292608"/>
          </a:xfrm>
          <a:prstGeom prst="roundRect">
            <a:avLst/>
          </a:prstGeom>
          <a:solidFill>
            <a:srgbClr val="C37C18"/>
          </a:solidFill>
          <a:ln w="10160">
            <a:solidFill>
              <a:srgbClr val="C37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705356"/>
            <a:ext cx="8595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0" y="1682496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I2S 负载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139696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MCLK / BCLK / WS 各约 44pF 到地。
建议预留 DNP 或降低容值，避免时钟边沿裕量不足。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85800" y="3630168"/>
            <a:ext cx="5212080" cy="1627632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05256" y="3813048"/>
            <a:ext cx="1005840" cy="292608"/>
          </a:xfrm>
          <a:prstGeom prst="roundRect">
            <a:avLst/>
          </a:prstGeom>
          <a:solidFill>
            <a:srgbClr val="C37C18"/>
          </a:solidFill>
          <a:ln w="10160">
            <a:solidFill>
              <a:srgbClr val="C37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3854196"/>
            <a:ext cx="8595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3831336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屏幕复位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288536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双眼 RESET 与系统 EN 共用。
首板可接受，但软件无法对单块故障屏做硬复位。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3630168"/>
            <a:ext cx="5212080" cy="1627632"/>
          </a:xfrm>
          <a:prstGeom prst="rect">
            <a:avLst/>
          </a:prstGeom>
          <a:solidFill>
            <a:srgbClr val="EFF3F7"/>
          </a:solidFill>
          <a:ln w="10160">
            <a:solidFill>
              <a:srgbClr val="C2C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483096" y="3813048"/>
            <a:ext cx="1005840" cy="292608"/>
          </a:xfrm>
          <a:prstGeom prst="roundRect">
            <a:avLst/>
          </a:prstGeom>
          <a:solidFill>
            <a:srgbClr val="C37C18"/>
          </a:solidFill>
          <a:ln w="10160">
            <a:solidFill>
              <a:srgbClr val="C37C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56248" y="3854196"/>
            <a:ext cx="85953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P1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3831336"/>
            <a:ext cx="3520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 a:ea="Microsoft YaHei">
                <a:solidFill>
                  <a:srgbClr val="141F2E"/>
                </a:solidFill>
                <a:latin typeface="Microsoft YaHei"/>
              </a:rPr>
              <a:t>测试可达性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4288536"/>
            <a:ext cx="4617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a:ea="Microsoft YaHei">
                <a:solidFill>
                  <a:srgbClr val="495668"/>
                </a:solidFill>
                <a:latin typeface="Microsoft YaHei"/>
              </a:rPr>
              <a:t>现有测试点集中在 4G USB。
补 5V、3V3、4V、EN、IO0、UART、I2C、SPI 测试点。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a:ea="Microsoft YaHei">
                <a:solidFill>
                  <a:srgbClr val="141F2E"/>
                </a:solidFill>
                <a:latin typeface="Microsoft YaHei"/>
              </a:rPr>
              <a:t>OV2640：首板 P0 功能，S3 DVP 引脚无冲突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实现关键是地址、上电时序、FPC 对应关系与 DVP 走线，不是保留 P4 CSI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a:ea="Microsoft YaHei">
                <a:solidFill>
                  <a:srgbClr val="495668"/>
                </a:solidFill>
                <a:latin typeface="Microsoft YaHei"/>
              </a:rPr>
              <a:t>来源：SCH_Schematic1_2026-08-08.pdf、Netlist_Schematic1_2026-08-08.tel、xiaozhi-esp32 代码（只读审核）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a:ea="Microsoft YaHei">
                <a:solidFill>
                  <a:srgbClr val="495668"/>
                </a:solidFill>
                <a:latin typeface="Microsoft YaHei"/>
              </a:rPr>
              <a:t>08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481328"/>
            <a:ext cx="3429000" cy="4315968"/>
          </a:xfrm>
          <a:prstGeom prst="rect">
            <a:avLst/>
          </a:prstGeom>
          <a:solidFill>
            <a:srgbClr val="EFF3F7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737360"/>
            <a:ext cx="1143000" cy="292608"/>
          </a:xfrm>
          <a:prstGeom prst="round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778507"/>
            <a:ext cx="9966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首板必测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" y="226771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a:ea="Microsoft YaHei">
                <a:solidFill>
                  <a:srgbClr val="141F2E"/>
                </a:solidFill>
                <a:latin typeface="Microsoft YaHei"/>
              </a:rPr>
              <a:t>硬件映射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" y="2852928"/>
            <a:ext cx="2971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a:ea="Microsoft YaHei">
                <a:solidFill>
                  <a:srgbClr val="495668"/>
                </a:solidFill>
                <a:latin typeface="Microsoft YaHei"/>
              </a:rPr>
              <a:t>SCCB：GPIO1 / GPIO2
XCLK=GPIO5；PCLK=GPIO7
VSYNC=GPIO3；HREF=GPIO46
D0–D7：GPIO16/18/8/17/15/6/4/9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481328"/>
            <a:ext cx="3429000" cy="4315968"/>
          </a:xfrm>
          <a:prstGeom prst="rect">
            <a:avLst/>
          </a:prstGeom>
          <a:solidFill>
            <a:srgbClr val="EFF3F7"/>
          </a:solidFill>
          <a:ln w="10160">
            <a:solidFill>
              <a:srgbClr val="1C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590288" y="1737360"/>
            <a:ext cx="1143000" cy="292608"/>
          </a:xfrm>
          <a:prstGeom prst="roundRect">
            <a:avLst/>
          </a:prstGeom>
          <a:solidFill>
            <a:srgbClr val="1C875A"/>
          </a:solidFill>
          <a:ln w="10160">
            <a:solidFill>
              <a:srgbClr val="1C87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778507"/>
            <a:ext cx="9966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首板必测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226771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a:ea="Microsoft YaHei">
                <a:solidFill>
                  <a:srgbClr val="141F2E"/>
                </a:solidFill>
                <a:latin typeface="Microsoft YaHei"/>
              </a:rPr>
              <a:t>软件顺序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8576" y="2852928"/>
            <a:ext cx="2971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a:ea="Microsoft YaHei">
                <a:solidFill>
                  <a:srgbClr val="495668"/>
                </a:solidFill>
                <a:latin typeface="Microsoft YaHei"/>
              </a:rPr>
              <a:t>1  初始化 I2C / PCA9539
2  PWDN 保持高（休眠）
3  PWDN 拉低、启动 XCLK
4  SCCB 探测 7-bit 地址 0x30
5  QVGA JPEG 单帧采集，再上 VGA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92440" y="1481328"/>
            <a:ext cx="3429000" cy="4315968"/>
          </a:xfrm>
          <a:prstGeom prst="rect">
            <a:avLst/>
          </a:prstGeom>
          <a:solidFill>
            <a:srgbClr val="EFF3F7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93608" y="1737360"/>
            <a:ext cx="1143000" cy="292608"/>
          </a:xfrm>
          <a:prstGeom prst="roundRect">
            <a:avLst/>
          </a:prstGeom>
          <a:solidFill>
            <a:srgbClr val="C23633"/>
          </a:solidFill>
          <a:ln w="10160">
            <a:solidFill>
              <a:srgbClr val="C236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1778507"/>
            <a:ext cx="996696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 a:ea="Microsoft YaHei">
                <a:solidFill>
                  <a:srgbClr val="FFFFFF"/>
                </a:solidFill>
                <a:latin typeface="Microsoft YaHei"/>
              </a:rPr>
              <a:t>首板必测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1896" y="226771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 a:ea="Microsoft YaHei">
                <a:solidFill>
                  <a:srgbClr val="141F2E"/>
                </a:solidFill>
                <a:latin typeface="Microsoft YaHei"/>
              </a:rPr>
              <a:t>投板前闭环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1896" y="2852928"/>
            <a:ext cx="2971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a:ea="Microsoft YaHei">
                <a:solidFill>
                  <a:srgbClr val="495668"/>
                </a:solidFill>
                <a:latin typeface="Microsoft YaHei"/>
              </a:rPr>
              <a:t>确认 OV2640 FPC 管脚序与 D0–D7 对应
核对 0x60 是否为 8-bit 写地址
DVP 短线、完整地参考；预留 0/22R
增加 CAM_2V8 / CAM_1V2 / SCCB / XCLK 测试点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6080760"/>
            <a:ext cx="10469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a:ea="Microsoft YaHei">
                <a:solidFill>
                  <a:srgbClr val="1C875A"/>
                </a:solidFill>
                <a:latin typeface="Microsoft YaHei"/>
              </a:rPr>
              <a:t>首板验收：可重复上电识别 OV2640、连续抓取 JPEG 无花屏/超时；仅按需拍照，不做连续 RGB565 视频流。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9184"/>
            <a:ext cx="1078992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a:ea="Microsoft YaHei">
                <a:solidFill>
                  <a:srgbClr val="141F2E"/>
                </a:solidFill>
                <a:latin typeface="Microsoft YaHei"/>
              </a:rPr>
              <a:t>建议的投板门槛与软件 Bring‑up 验收顺序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868680"/>
            <a:ext cx="102412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a:ea="Microsoft YaHei">
                <a:solidFill>
                  <a:srgbClr val="495668"/>
                </a:solidFill>
                <a:latin typeface="Microsoft YaHei"/>
              </a:rPr>
              <a:t>摄像头纳入 EVT 核心验收；4G/K230 不应阻塞语音、双眼与拍照闭环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6473952"/>
            <a:ext cx="9875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a:ea="Microsoft YaHei">
                <a:solidFill>
                  <a:srgbClr val="495668"/>
                </a:solidFill>
                <a:latin typeface="Microsoft YaHei"/>
              </a:rPr>
              <a:t>来源：SCH_Schematic1_2026-08-08.pdf、Netlist_Schematic1_2026-08-08.tel、xiaozhi-esp32 代码（只读审核）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09960" y="6428232"/>
            <a:ext cx="457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 a:ea="Microsoft YaHei">
                <a:solidFill>
                  <a:srgbClr val="495668"/>
                </a:solidFill>
                <a:latin typeface="Microsoft YaHei"/>
              </a:rP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298448"/>
            <a:ext cx="475488" cy="393192"/>
          </a:xfrm>
          <a:prstGeom prst="round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67028"/>
            <a:ext cx="4754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a:ea="Microsoft YaHei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81328" y="1307592"/>
            <a:ext cx="1005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a:ea="Microsoft YaHei">
                <a:solidFill>
                  <a:srgbClr val="141F2E"/>
                </a:solidFill>
                <a:latin typeface="Microsoft YaHei"/>
              </a:rPr>
              <a:t>下载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42032" y="1325880"/>
            <a:ext cx="8732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a:ea="Microsoft YaHei">
                <a:solidFill>
                  <a:srgbClr val="495668"/>
                </a:solidFill>
                <a:latin typeface="Microsoft YaHei"/>
              </a:rPr>
              <a:t>Type‑C/CH340、EN、IO0：稳定擦写、串口日志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1865376"/>
            <a:ext cx="475488" cy="393192"/>
          </a:xfrm>
          <a:prstGeom prst="round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33956"/>
            <a:ext cx="4754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a:ea="Microsoft YaHei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1874519"/>
            <a:ext cx="1005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a:ea="Microsoft YaHei">
                <a:solidFill>
                  <a:srgbClr val="141F2E"/>
                </a:solidFill>
                <a:latin typeface="Microsoft YaHei"/>
              </a:rPr>
              <a:t>电源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1892807"/>
            <a:ext cx="8732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a:ea="Microsoft YaHei">
                <a:solidFill>
                  <a:srgbClr val="495668"/>
                </a:solidFill>
                <a:latin typeface="Microsoft YaHei"/>
              </a:rPr>
              <a:t>5V / 3V3 / 4V 上电、负载、复位时序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2432304"/>
            <a:ext cx="475488" cy="393192"/>
          </a:xfrm>
          <a:prstGeom prst="round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00884"/>
            <a:ext cx="4754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a:ea="Microsoft YaHei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2441448"/>
            <a:ext cx="1005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a:ea="Microsoft YaHei">
                <a:solidFill>
                  <a:srgbClr val="141F2E"/>
                </a:solidFill>
                <a:latin typeface="Microsoft YaHei"/>
              </a:rPr>
              <a:t>总线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2459736"/>
            <a:ext cx="8732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a:ea="Microsoft YaHei">
                <a:solidFill>
                  <a:srgbClr val="495668"/>
                </a:solidFill>
                <a:latin typeface="Microsoft YaHei"/>
              </a:rPr>
              <a:t>I2C 扫描与 ES8311/ES7210/PCA9539 地址核验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2999232"/>
            <a:ext cx="475488" cy="393192"/>
          </a:xfrm>
          <a:prstGeom prst="round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067812"/>
            <a:ext cx="4754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a:ea="Microsoft YaHei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3008375"/>
            <a:ext cx="1005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a:ea="Microsoft YaHei">
                <a:solidFill>
                  <a:srgbClr val="141F2E"/>
                </a:solidFill>
                <a:latin typeface="Microsoft YaHei"/>
              </a:rPr>
              <a:t>摄像头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3026663"/>
            <a:ext cx="8732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a:ea="Microsoft YaHei">
                <a:solidFill>
                  <a:srgbClr val="495668"/>
                </a:solidFill>
                <a:latin typeface="Microsoft YaHei"/>
              </a:rPr>
              <a:t>PWDN → XCLK → SCCB 0x30 → QVGA JPEG 单帧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3566160"/>
            <a:ext cx="475488" cy="393192"/>
          </a:xfrm>
          <a:prstGeom prst="round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34740"/>
            <a:ext cx="4754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a:ea="Microsoft YaHei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575303"/>
            <a:ext cx="1005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a:ea="Microsoft YaHei">
                <a:solidFill>
                  <a:srgbClr val="141F2E"/>
                </a:solidFill>
                <a:latin typeface="Microsoft YaHei"/>
              </a:rPr>
              <a:t>音频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2032" y="3593591"/>
            <a:ext cx="8732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a:ea="Microsoft YaHei">
                <a:solidFill>
                  <a:srgbClr val="495668"/>
                </a:solidFill>
                <a:latin typeface="Microsoft YaHei"/>
              </a:rPr>
              <a:t>双麦录音、I2S 时钟、播放、AEC 回采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4133087"/>
            <a:ext cx="475488" cy="393192"/>
          </a:xfrm>
          <a:prstGeom prst="round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201668"/>
            <a:ext cx="4754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a:ea="Microsoft YaHei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81328" y="4142231"/>
            <a:ext cx="1005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a:ea="Microsoft YaHei">
                <a:solidFill>
                  <a:srgbClr val="141F2E"/>
                </a:solidFill>
                <a:latin typeface="Microsoft YaHei"/>
              </a:rPr>
              <a:t>双眼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542032" y="4160520"/>
            <a:ext cx="8732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a:ea="Microsoft YaHei">
                <a:solidFill>
                  <a:srgbClr val="495668"/>
                </a:solidFill>
                <a:latin typeface="Microsoft YaHei"/>
              </a:rPr>
              <a:t>左/右单测 → 同步表情、眨眼、睡眠、背光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4700016"/>
            <a:ext cx="475488" cy="393192"/>
          </a:xfrm>
          <a:prstGeom prst="round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4768596"/>
            <a:ext cx="4754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a:ea="Microsoft YaHei">
                <a:solidFill>
                  <a:srgbClr val="FFFFFF"/>
                </a:solidFill>
                <a:latin typeface="Microsoft YaHei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81328" y="4709159"/>
            <a:ext cx="1005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a:ea="Microsoft YaHei">
                <a:solidFill>
                  <a:srgbClr val="141F2E"/>
                </a:solidFill>
                <a:latin typeface="Microsoft YaHei"/>
              </a:rPr>
              <a:t>外设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42032" y="4727448"/>
            <a:ext cx="8732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a:ea="Microsoft YaHei">
                <a:solidFill>
                  <a:srgbClr val="495668"/>
                </a:solidFill>
                <a:latin typeface="Microsoft YaHei"/>
              </a:rPr>
              <a:t>舵机 PWM、触摸/霍尔；WS2812 需补电路后纳入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5266944"/>
            <a:ext cx="475488" cy="393192"/>
          </a:xfrm>
          <a:prstGeom prst="round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335524"/>
            <a:ext cx="475488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 a:ea="Microsoft YaHei">
                <a:solidFill>
                  <a:srgbClr val="FFFFFF"/>
                </a:solidFill>
                <a:latin typeface="Microsoft YaHei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81328" y="5276088"/>
            <a:ext cx="100584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 a:ea="Microsoft YaHei">
                <a:solidFill>
                  <a:srgbClr val="141F2E"/>
                </a:solidFill>
                <a:latin typeface="Microsoft YaHei"/>
              </a:rPr>
              <a:t>后续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42032" y="5294376"/>
            <a:ext cx="8732520" cy="2468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a:ea="Microsoft YaHei">
                <a:solidFill>
                  <a:srgbClr val="495668"/>
                </a:solidFill>
                <a:latin typeface="Microsoft YaHei"/>
              </a:rPr>
              <a:t>ML307A、K230 UART 分阶段启用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989320"/>
            <a:ext cx="1046988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a:ea="Microsoft YaHei">
                <a:solidFill>
                  <a:srgbClr val="1C875A"/>
                </a:solidFill>
                <a:latin typeface="Microsoft YaHei"/>
              </a:rPr>
              <a:t>Go 判据：下载稳定 + OV2640 JPEG 拍照稳定 + 音频双向稳定 + 两屏同步刷新 + 静态功耗与异常复位可复现。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F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143000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300" b="1" a:ea="Microsoft YaHei">
                <a:solidFill>
                  <a:srgbClr val="FFFFFF"/>
                </a:solidFill>
                <a:latin typeface="Microsoft YaHei"/>
              </a:rPr>
              <a:t>建议：关闭三项 P0，并完成摄像头验证后投板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2057400"/>
            <a:ext cx="9875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 a:ea="Microsoft YaHei">
                <a:solidFill>
                  <a:srgbClr val="D2E5F4"/>
                </a:solidFill>
                <a:latin typeface="Microsoft YaHei"/>
              </a:rPr>
              <a:t>S3 与新 SPI 屏不是风险来源；它们是当前产品定位最匹配的硬件基础。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04672" y="2971800"/>
            <a:ext cx="10561320" cy="822960"/>
          </a:xfrm>
          <a:prstGeom prst="rect">
            <a:avLst/>
          </a:prstGeom>
          <a:solidFill>
            <a:srgbClr val="2B77C4"/>
          </a:solidFill>
          <a:ln w="10160">
            <a:solidFill>
              <a:srgbClr val="2B77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3218688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 a:ea="Microsoft YaHei">
                <a:solidFill>
                  <a:srgbClr val="FFFFFF"/>
                </a:solidFill>
                <a:latin typeface="Microsoft YaHei"/>
              </a:rPr>
              <a:t>投板目标应是：稳定对话 · 双眼有生命感 · 易烧录调试 · 可定位故障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4846320"/>
            <a:ext cx="9875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 a:ea="Microsoft YaHei">
                <a:solidFill>
                  <a:srgbClr val="56B8DC"/>
                </a:solidFill>
                <a:latin typeface="Microsoft YaHei"/>
              </a:rPr>
              <a:t>正式版 Go 条件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230368"/>
            <a:ext cx="9875520" cy="987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 a:ea="Microsoft YaHei">
                <a:solidFill>
                  <a:srgbClr val="FFFFFF"/>
                </a:solidFill>
                <a:latin typeface="Microsoft YaHei"/>
              </a:rPr>
              <a:t>• 下载口、功放供电、4G 电平三项 P0 关闭</a:t>
            </a:r>
          </a:p>
          <a:p>
            <a:pPr>
              <a:spcAft>
                <a:spcPts val="1000"/>
              </a:spcAft>
            </a:pPr>
            <a:r>
              <a:rPr sz="1700" b="1" a:ea="Microsoft YaHei">
                <a:solidFill>
                  <a:srgbClr val="FFFFFF"/>
                </a:solidFill>
                <a:latin typeface="Microsoft YaHei"/>
              </a:rPr>
              <a:t>• OV2640 可稳定完成 QVGA JPEG 单帧拍照；双屏 S3 板型完成编译</a:t>
            </a:r>
          </a:p>
          <a:p>
            <a:pPr>
              <a:spcAft>
                <a:spcPts val="1000"/>
              </a:spcAft>
            </a:pPr>
            <a:r>
              <a:rPr sz="1700" b="1" a:ea="Microsoft YaHei">
                <a:solidFill>
                  <a:srgbClr val="FFFFFF"/>
                </a:solidFill>
                <a:latin typeface="Microsoft YaHei"/>
              </a:rPr>
              <a:t>• PCB / Gerber / BOM / DRC / 测试点审查完成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